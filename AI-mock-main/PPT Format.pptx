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7" r:id="rId2"/>
    <p:sldId id="258" r:id="rId3"/>
    <p:sldId id="259" r:id="rId4"/>
    <p:sldId id="260" r:id="rId5"/>
    <p:sldId id="288" r:id="rId6"/>
    <p:sldId id="289" r:id="rId7"/>
    <p:sldId id="302" r:id="rId8"/>
    <p:sldId id="290" r:id="rId9"/>
    <p:sldId id="291" r:id="rId10"/>
    <p:sldId id="292" r:id="rId11"/>
    <p:sldId id="300" r:id="rId12"/>
    <p:sldId id="301" r:id="rId13"/>
    <p:sldId id="294" r:id="rId14"/>
    <p:sldId id="303" r:id="rId15"/>
    <p:sldId id="304" r:id="rId16"/>
    <p:sldId id="305" r:id="rId17"/>
    <p:sldId id="306" r:id="rId18"/>
    <p:sldId id="295" r:id="rId19"/>
    <p:sldId id="296" r:id="rId20"/>
    <p:sldId id="297" r:id="rId21"/>
    <p:sldId id="298" r:id="rId22"/>
    <p:sldId id="29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6"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929BDD-6D8B-42C3-9DBF-32EE62C95574}" type="datetimeFigureOut">
              <a:rPr lang="en-US" smtClean="0"/>
              <a:t>11/12/2025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A25AB9-90B7-47CD-9FBD-D5FC49CBA893}" type="slidenum">
              <a:rPr lang="en-US" smtClean="0"/>
              <a:t>‹#›</a:t>
            </a:fld>
            <a:endParaRPr lang="en-US"/>
          </a:p>
        </p:txBody>
      </p:sp>
    </p:spTree>
    <p:extLst>
      <p:ext uri="{BB962C8B-B14F-4D97-AF65-F5344CB8AC3E}">
        <p14:creationId xmlns:p14="http://schemas.microsoft.com/office/powerpoint/2010/main" val="509634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F252413-9715-4669-92B0-ADB505A3CD33}"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8E5B3-2E87-4EE9-9B9A-5CA1B05C3427}" type="slidenum">
              <a:rPr lang="en-US" smtClean="0"/>
              <a:t>‹#›</a:t>
            </a:fld>
            <a:endParaRPr lang="en-US"/>
          </a:p>
        </p:txBody>
      </p:sp>
    </p:spTree>
    <p:extLst>
      <p:ext uri="{BB962C8B-B14F-4D97-AF65-F5344CB8AC3E}">
        <p14:creationId xmlns:p14="http://schemas.microsoft.com/office/powerpoint/2010/main" val="4091550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252413-9715-4669-92B0-ADB505A3CD33}"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8E5B3-2E87-4EE9-9B9A-5CA1B05C3427}" type="slidenum">
              <a:rPr lang="en-US" smtClean="0"/>
              <a:t>‹#›</a:t>
            </a:fld>
            <a:endParaRPr lang="en-US"/>
          </a:p>
        </p:txBody>
      </p:sp>
    </p:spTree>
    <p:extLst>
      <p:ext uri="{BB962C8B-B14F-4D97-AF65-F5344CB8AC3E}">
        <p14:creationId xmlns:p14="http://schemas.microsoft.com/office/powerpoint/2010/main" val="3332246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252413-9715-4669-92B0-ADB505A3CD33}"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8E5B3-2E87-4EE9-9B9A-5CA1B05C3427}" type="slidenum">
              <a:rPr lang="en-US" smtClean="0"/>
              <a:t>‹#›</a:t>
            </a:fld>
            <a:endParaRPr lang="en-US"/>
          </a:p>
        </p:txBody>
      </p:sp>
    </p:spTree>
    <p:extLst>
      <p:ext uri="{BB962C8B-B14F-4D97-AF65-F5344CB8AC3E}">
        <p14:creationId xmlns:p14="http://schemas.microsoft.com/office/powerpoint/2010/main" val="4275094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F252413-9715-4669-92B0-ADB505A3CD33}"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D8E5B3-2E87-4EE9-9B9A-5CA1B05C3427}" type="slidenum">
              <a:rPr lang="en-US" smtClean="0"/>
              <a:t>‹#›</a:t>
            </a:fld>
            <a:endParaRPr lang="en-US"/>
          </a:p>
        </p:txBody>
      </p:sp>
    </p:spTree>
    <p:extLst>
      <p:ext uri="{BB962C8B-B14F-4D97-AF65-F5344CB8AC3E}">
        <p14:creationId xmlns:p14="http://schemas.microsoft.com/office/powerpoint/2010/main" val="19615411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F252413-9715-4669-92B0-ADB505A3CD33}" type="datetimeFigureOut">
              <a:rPr lang="en-US" smtClean="0"/>
              <a:t>11/12/2025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D8E5B3-2E87-4EE9-9B9A-5CA1B05C3427}" type="slidenum">
              <a:rPr lang="en-US" smtClean="0"/>
              <a:t>‹#›</a:t>
            </a:fld>
            <a:endParaRPr lang="en-US"/>
          </a:p>
        </p:txBody>
      </p:sp>
    </p:spTree>
    <p:extLst>
      <p:ext uri="{BB962C8B-B14F-4D97-AF65-F5344CB8AC3E}">
        <p14:creationId xmlns:p14="http://schemas.microsoft.com/office/powerpoint/2010/main" val="936783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252413-9715-4669-92B0-ADB505A3CD33}" type="datetimeFigureOut">
              <a:rPr lang="en-US" smtClean="0"/>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D8E5B3-2E87-4EE9-9B9A-5CA1B05C3427}" type="slidenum">
              <a:rPr lang="en-US" smtClean="0"/>
              <a:t>‹#›</a:t>
            </a:fld>
            <a:endParaRPr lang="en-US"/>
          </a:p>
        </p:txBody>
      </p:sp>
    </p:spTree>
    <p:extLst>
      <p:ext uri="{BB962C8B-B14F-4D97-AF65-F5344CB8AC3E}">
        <p14:creationId xmlns:p14="http://schemas.microsoft.com/office/powerpoint/2010/main" val="10211703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252413-9715-4669-92B0-ADB505A3CD33}" type="datetimeFigureOut">
              <a:rPr lang="en-US" smtClean="0"/>
              <a:t>11/12/2025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D8E5B3-2E87-4EE9-9B9A-5CA1B05C3427}" type="slidenum">
              <a:rPr lang="en-US" smtClean="0"/>
              <a:t>‹#›</a:t>
            </a:fld>
            <a:endParaRPr lang="en-US"/>
          </a:p>
        </p:txBody>
      </p:sp>
    </p:spTree>
    <p:extLst>
      <p:ext uri="{BB962C8B-B14F-4D97-AF65-F5344CB8AC3E}">
        <p14:creationId xmlns:p14="http://schemas.microsoft.com/office/powerpoint/2010/main" val="102476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252413-9715-4669-92B0-ADB505A3CD33}"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D8E5B3-2E87-4EE9-9B9A-5CA1B05C3427}" type="slidenum">
              <a:rPr lang="en-US" smtClean="0"/>
              <a:t>‹#›</a:t>
            </a:fld>
            <a:endParaRPr lang="en-US"/>
          </a:p>
        </p:txBody>
      </p:sp>
    </p:spTree>
    <p:extLst>
      <p:ext uri="{BB962C8B-B14F-4D97-AF65-F5344CB8AC3E}">
        <p14:creationId xmlns:p14="http://schemas.microsoft.com/office/powerpoint/2010/main" val="1490916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252413-9715-4669-92B0-ADB505A3CD33}"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D8E5B3-2E87-4EE9-9B9A-5CA1B05C3427}" type="slidenum">
              <a:rPr lang="en-US" smtClean="0"/>
              <a:t>‹#›</a:t>
            </a:fld>
            <a:endParaRPr lang="en-US"/>
          </a:p>
        </p:txBody>
      </p:sp>
    </p:spTree>
    <p:extLst>
      <p:ext uri="{BB962C8B-B14F-4D97-AF65-F5344CB8AC3E}">
        <p14:creationId xmlns:p14="http://schemas.microsoft.com/office/powerpoint/2010/main" val="2668462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252413-9715-4669-92B0-ADB505A3CD33}"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8E5B3-2E87-4EE9-9B9A-5CA1B05C3427}" type="slidenum">
              <a:rPr lang="en-US" smtClean="0"/>
              <a:t>‹#›</a:t>
            </a:fld>
            <a:endParaRPr lang="en-US"/>
          </a:p>
        </p:txBody>
      </p:sp>
    </p:spTree>
    <p:extLst>
      <p:ext uri="{BB962C8B-B14F-4D97-AF65-F5344CB8AC3E}">
        <p14:creationId xmlns:p14="http://schemas.microsoft.com/office/powerpoint/2010/main" val="4282209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252413-9715-4669-92B0-ADB505A3CD33}"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8E5B3-2E87-4EE9-9B9A-5CA1B05C3427}" type="slidenum">
              <a:rPr lang="en-US" smtClean="0"/>
              <a:t>‹#›</a:t>
            </a:fld>
            <a:endParaRPr lang="en-US"/>
          </a:p>
        </p:txBody>
      </p:sp>
    </p:spTree>
    <p:extLst>
      <p:ext uri="{BB962C8B-B14F-4D97-AF65-F5344CB8AC3E}">
        <p14:creationId xmlns:p14="http://schemas.microsoft.com/office/powerpoint/2010/main" val="1584275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252413-9715-4669-92B0-ADB505A3CD33}" type="datetimeFigureOut">
              <a:rPr lang="en-US" smtClean="0"/>
              <a:t>11/12/2025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D8E5B3-2E87-4EE9-9B9A-5CA1B05C3427}" type="slidenum">
              <a:rPr lang="en-US" smtClean="0"/>
              <a:t>‹#›</a:t>
            </a:fld>
            <a:endParaRPr lang="en-US"/>
          </a:p>
        </p:txBody>
      </p:sp>
    </p:spTree>
    <p:extLst>
      <p:ext uri="{BB962C8B-B14F-4D97-AF65-F5344CB8AC3E}">
        <p14:creationId xmlns:p14="http://schemas.microsoft.com/office/powerpoint/2010/main" val="32782939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www.ijirmps.org/research-paper.php?id=231993&amp;utm_source=chatgpt.com" TargetMode="External"/><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hyperlink" Target="https://www.irjmets.com/uploadedfiles/paper/issue_4_april_2025/72440/final/fin_irjmets1744460382.pdf?utm_source=chatgpt.com" TargetMode="External"/><Relationship Id="rId4" Type="http://schemas.openxmlformats.org/officeDocument/2006/relationships/hyperlink" Target="https://ijrpr.com/uploads/V6ISSUE5/IJRPR45237.pdf?utm_source=chatgpt.com"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2" name="Google Shape;55;p1"/>
          <p:cNvSpPr txBox="1">
            <a:spLocks noGrp="1"/>
          </p:cNvSpPr>
          <p:nvPr>
            <p:ph type="ctrTitle" idx="4294967295"/>
          </p:nvPr>
        </p:nvSpPr>
        <p:spPr>
          <a:xfrm>
            <a:off x="2587509" y="1005617"/>
            <a:ext cx="9604491" cy="1385622"/>
          </a:xfrm>
          <a:prstGeom prst="rect">
            <a:avLst/>
          </a:prstGeom>
          <a:noFill/>
          <a:ln>
            <a:noFill/>
          </a:ln>
        </p:spPr>
        <p:txBody>
          <a:bodyPr spcFirstLastPara="1" vert="horz" wrap="square" lIns="121900" tIns="60933" rIns="121900" bIns="60933" rtlCol="0" anchor="t" anchorCtr="0">
            <a:noAutofit/>
          </a:bodyPr>
          <a:lstStyle/>
          <a:p>
            <a:pPr>
              <a:spcBef>
                <a:spcPts val="0"/>
              </a:spcBef>
            </a:pPr>
            <a:r>
              <a:rPr lang="en-US" sz="3733" b="1" dirty="0">
                <a:solidFill>
                  <a:srgbClr val="7030A0"/>
                </a:solidFill>
                <a:latin typeface="Calibri"/>
                <a:ea typeface="Calibri"/>
                <a:cs typeface="Calibri"/>
                <a:sym typeface="Calibri"/>
              </a:rPr>
              <a:t>TITLE</a:t>
            </a:r>
            <a:r>
              <a:rPr lang="en-US" sz="4800" b="1" dirty="0">
                <a:solidFill>
                  <a:srgbClr val="7030A0"/>
                </a:solidFill>
                <a:latin typeface="Calibri"/>
                <a:ea typeface="Calibri"/>
                <a:cs typeface="Calibri"/>
                <a:sym typeface="Calibri"/>
              </a:rPr>
              <a:t>:</a:t>
            </a:r>
            <a:endParaRPr sz="3733" b="1" dirty="0">
              <a:solidFill>
                <a:srgbClr val="7030A0"/>
              </a:solidFill>
              <a:latin typeface="Calibri"/>
              <a:ea typeface="Calibri"/>
              <a:cs typeface="Calibri"/>
              <a:sym typeface="Calibri"/>
            </a:endParaRPr>
          </a:p>
        </p:txBody>
      </p:sp>
      <p:sp>
        <p:nvSpPr>
          <p:cNvPr id="13" name="Google Shape;56;p1"/>
          <p:cNvSpPr txBox="1">
            <a:spLocks noGrp="1"/>
          </p:cNvSpPr>
          <p:nvPr>
            <p:ph type="subTitle" idx="4294967295"/>
          </p:nvPr>
        </p:nvSpPr>
        <p:spPr>
          <a:xfrm>
            <a:off x="1933576" y="2278971"/>
            <a:ext cx="11135088" cy="1776482"/>
          </a:xfrm>
          <a:prstGeom prst="rect">
            <a:avLst/>
          </a:prstGeom>
          <a:noFill/>
          <a:ln>
            <a:noFill/>
          </a:ln>
        </p:spPr>
        <p:txBody>
          <a:bodyPr spcFirstLastPara="1" vert="horz" wrap="square" lIns="121900" tIns="60933" rIns="121900" bIns="60933" rtlCol="0" anchor="t" anchorCtr="0">
            <a:noAutofit/>
          </a:bodyPr>
          <a:lstStyle/>
          <a:p>
            <a:pPr marL="0" indent="0">
              <a:spcBef>
                <a:spcPts val="0"/>
              </a:spcBef>
              <a:buClr>
                <a:srgbClr val="353535"/>
              </a:buClr>
              <a:buSzPts val="550"/>
              <a:buNone/>
            </a:pPr>
            <a:r>
              <a:rPr lang="en-US" sz="2933" b="1" dirty="0">
                <a:solidFill>
                  <a:srgbClr val="000000"/>
                </a:solidFill>
                <a:latin typeface="Times New Roman"/>
                <a:ea typeface="Times New Roman"/>
                <a:cs typeface="Times New Roman"/>
                <a:sym typeface="Times New Roman"/>
              </a:rPr>
              <a:t>        Under the Guidance</a:t>
            </a:r>
            <a:r>
              <a:rPr lang="en-US" sz="2933" dirty="0">
                <a:solidFill>
                  <a:srgbClr val="000000"/>
                </a:solidFill>
                <a:latin typeface="Times New Roman"/>
                <a:ea typeface="Times New Roman"/>
                <a:cs typeface="Times New Roman"/>
                <a:sym typeface="Times New Roman"/>
              </a:rPr>
              <a:t>  </a:t>
            </a:r>
            <a:r>
              <a:rPr lang="en-US" sz="2933" b="1" dirty="0">
                <a:solidFill>
                  <a:srgbClr val="000000"/>
                </a:solidFill>
                <a:latin typeface="Times New Roman"/>
                <a:ea typeface="Times New Roman"/>
                <a:cs typeface="Times New Roman"/>
                <a:sym typeface="Times New Roman"/>
              </a:rPr>
              <a:t>of</a:t>
            </a:r>
            <a:r>
              <a:rPr lang="en-US" sz="2933" dirty="0">
                <a:solidFill>
                  <a:srgbClr val="000000"/>
                </a:solidFill>
                <a:latin typeface="Times New Roman"/>
                <a:ea typeface="Times New Roman"/>
                <a:cs typeface="Times New Roman"/>
                <a:sym typeface="Times New Roman"/>
              </a:rPr>
              <a:t>  </a:t>
            </a:r>
            <a:endParaRPr sz="2933" dirty="0">
              <a:solidFill>
                <a:srgbClr val="000000"/>
              </a:solidFill>
              <a:latin typeface="Times New Roman"/>
              <a:ea typeface="Times New Roman"/>
              <a:cs typeface="Times New Roman"/>
              <a:sym typeface="Times New Roman"/>
            </a:endParaRPr>
          </a:p>
          <a:p>
            <a:pPr marL="0" indent="0">
              <a:spcBef>
                <a:spcPts val="0"/>
              </a:spcBef>
              <a:buClr>
                <a:srgbClr val="353535"/>
              </a:buClr>
              <a:buSzPts val="550"/>
              <a:buNone/>
            </a:pPr>
            <a:r>
              <a:rPr lang="en-US" sz="2933" b="1" dirty="0">
                <a:solidFill>
                  <a:srgbClr val="000000"/>
                </a:solidFill>
                <a:latin typeface="Times New Roman"/>
                <a:ea typeface="Times New Roman"/>
                <a:cs typeface="Times New Roman"/>
                <a:sym typeface="Times New Roman"/>
              </a:rPr>
              <a:t>            </a:t>
            </a:r>
            <a:r>
              <a:rPr lang="en-US" sz="2400" b="1" dirty="0">
                <a:solidFill>
                  <a:srgbClr val="404040"/>
                </a:solidFill>
                <a:latin typeface="Calibri"/>
                <a:ea typeface="Calibri"/>
                <a:cs typeface="Calibri"/>
                <a:sym typeface="Calibri"/>
              </a:rPr>
              <a:t>Prof. or Dr. Guide Name</a:t>
            </a:r>
          </a:p>
          <a:p>
            <a:pPr marL="0" indent="0">
              <a:spcBef>
                <a:spcPts val="0"/>
              </a:spcBef>
              <a:buClr>
                <a:srgbClr val="353535"/>
              </a:buClr>
              <a:buSzPts val="550"/>
              <a:buNone/>
            </a:pPr>
            <a:r>
              <a:rPr lang="en-US" sz="2400" b="1" dirty="0">
                <a:solidFill>
                  <a:srgbClr val="404040"/>
                </a:solidFill>
                <a:latin typeface="Calibri"/>
                <a:ea typeface="Calibri"/>
                <a:cs typeface="Calibri"/>
                <a:sym typeface="Calibri"/>
              </a:rPr>
              <a:t>                   Designation           </a:t>
            </a:r>
          </a:p>
          <a:p>
            <a:pPr marL="0" indent="0">
              <a:spcBef>
                <a:spcPts val="0"/>
              </a:spcBef>
              <a:buClr>
                <a:srgbClr val="353535"/>
              </a:buClr>
              <a:buSzPts val="550"/>
              <a:buNone/>
            </a:pPr>
            <a:r>
              <a:rPr lang="en-US" sz="2400" b="1" dirty="0">
                <a:solidFill>
                  <a:srgbClr val="404040"/>
                </a:solidFill>
                <a:latin typeface="Calibri"/>
                <a:ea typeface="Calibri"/>
                <a:cs typeface="Calibri"/>
                <a:sym typeface="Calibri"/>
              </a:rPr>
              <a:t>                 Department of ISE</a:t>
            </a:r>
            <a:endParaRPr sz="2400" b="1" dirty="0">
              <a:solidFill>
                <a:srgbClr val="404040"/>
              </a:solidFill>
              <a:latin typeface="Calibri"/>
              <a:ea typeface="Calibri"/>
              <a:cs typeface="Calibri"/>
              <a:sym typeface="Calibri"/>
            </a:endParaRPr>
          </a:p>
          <a:p>
            <a:pPr marL="0" indent="0">
              <a:spcBef>
                <a:spcPts val="0"/>
              </a:spcBef>
              <a:buClr>
                <a:srgbClr val="353535"/>
              </a:buClr>
              <a:buSzPts val="450"/>
              <a:buNone/>
            </a:pPr>
            <a:r>
              <a:rPr lang="en-US" sz="2400" b="1" dirty="0">
                <a:solidFill>
                  <a:srgbClr val="404040"/>
                </a:solidFill>
                <a:latin typeface="Calibri"/>
                <a:ea typeface="Calibri"/>
                <a:cs typeface="Calibri"/>
                <a:sym typeface="Calibri"/>
              </a:rPr>
              <a:t>        Acharya Institute Of Technology </a:t>
            </a:r>
            <a:endParaRPr sz="2400" b="1" dirty="0">
              <a:solidFill>
                <a:srgbClr val="404040"/>
              </a:solidFill>
              <a:latin typeface="Calibri"/>
              <a:ea typeface="Calibri"/>
              <a:cs typeface="Calibri"/>
              <a:sym typeface="Calibri"/>
            </a:endParaRPr>
          </a:p>
          <a:p>
            <a:pPr marL="0" indent="0">
              <a:spcBef>
                <a:spcPts val="1333"/>
              </a:spcBef>
              <a:buClr>
                <a:srgbClr val="353535"/>
              </a:buClr>
              <a:buSzPts val="600"/>
              <a:buNone/>
            </a:pPr>
            <a:endParaRPr sz="3200" b="1" dirty="0">
              <a:solidFill>
                <a:srgbClr val="404040"/>
              </a:solidFill>
              <a:latin typeface="Calibri"/>
              <a:ea typeface="Calibri"/>
              <a:cs typeface="Calibri"/>
              <a:sym typeface="Calibri"/>
            </a:endParaRPr>
          </a:p>
          <a:p>
            <a:pPr marL="0" indent="0" algn="ctr">
              <a:spcBef>
                <a:spcPts val="1333"/>
              </a:spcBef>
              <a:buClr>
                <a:srgbClr val="353535"/>
              </a:buClr>
              <a:buSzPts val="550"/>
              <a:buNone/>
            </a:pPr>
            <a:endParaRPr sz="2933" dirty="0">
              <a:solidFill>
                <a:srgbClr val="000000"/>
              </a:solidFill>
              <a:latin typeface="Times New Roman"/>
              <a:ea typeface="Times New Roman"/>
              <a:cs typeface="Times New Roman"/>
              <a:sym typeface="Times New Roman"/>
            </a:endParaRPr>
          </a:p>
          <a:p>
            <a:pPr marL="0" indent="0" algn="ctr">
              <a:spcBef>
                <a:spcPts val="1333"/>
              </a:spcBef>
              <a:buClr>
                <a:srgbClr val="353535"/>
              </a:buClr>
              <a:buSzPts val="550"/>
              <a:buNone/>
            </a:pPr>
            <a:r>
              <a:rPr lang="en-US" sz="2933" dirty="0">
                <a:solidFill>
                  <a:srgbClr val="000000"/>
                </a:solidFill>
                <a:latin typeface="Times New Roman"/>
                <a:ea typeface="Times New Roman"/>
                <a:cs typeface="Times New Roman"/>
                <a:sym typeface="Times New Roman"/>
              </a:rPr>
              <a:t>                               											</a:t>
            </a:r>
            <a:endParaRPr sz="2933" dirty="0">
              <a:solidFill>
                <a:srgbClr val="000000"/>
              </a:solidFill>
              <a:latin typeface="Times New Roman"/>
              <a:ea typeface="Times New Roman"/>
              <a:cs typeface="Times New Roman"/>
              <a:sym typeface="Times New Roman"/>
            </a:endParaRPr>
          </a:p>
          <a:p>
            <a:pPr marL="0" indent="0" algn="ctr">
              <a:spcBef>
                <a:spcPts val="1333"/>
              </a:spcBef>
              <a:buClr>
                <a:srgbClr val="353535"/>
              </a:buClr>
              <a:buSzPts val="550"/>
              <a:buNone/>
            </a:pPr>
            <a:r>
              <a:rPr lang="en-US" sz="2933" dirty="0">
                <a:solidFill>
                  <a:srgbClr val="000000"/>
                </a:solidFill>
                <a:latin typeface="Times New Roman"/>
                <a:ea typeface="Times New Roman"/>
                <a:cs typeface="Times New Roman"/>
                <a:sym typeface="Times New Roman"/>
              </a:rPr>
              <a:t>			</a:t>
            </a:r>
            <a:endParaRPr sz="2933" dirty="0">
              <a:solidFill>
                <a:srgbClr val="000000"/>
              </a:solidFill>
              <a:latin typeface="Times New Roman"/>
              <a:ea typeface="Times New Roman"/>
              <a:cs typeface="Times New Roman"/>
              <a:sym typeface="Times New Roman"/>
            </a:endParaRPr>
          </a:p>
          <a:p>
            <a:pPr marL="0" indent="0" algn="ctr">
              <a:spcBef>
                <a:spcPts val="1333"/>
              </a:spcBef>
              <a:buClr>
                <a:srgbClr val="353535"/>
              </a:buClr>
              <a:buSzPts val="550"/>
              <a:buNone/>
            </a:pPr>
            <a:endParaRPr sz="2933" dirty="0">
              <a:solidFill>
                <a:srgbClr val="000000"/>
              </a:solidFill>
              <a:latin typeface="Times New Roman"/>
              <a:ea typeface="Times New Roman"/>
              <a:cs typeface="Times New Roman"/>
              <a:sym typeface="Times New Roman"/>
            </a:endParaRPr>
          </a:p>
          <a:p>
            <a:pPr marL="0" indent="0" algn="ctr">
              <a:spcBef>
                <a:spcPts val="1333"/>
              </a:spcBef>
              <a:buClr>
                <a:srgbClr val="353535"/>
              </a:buClr>
              <a:buSzPts val="750"/>
              <a:buNone/>
            </a:pPr>
            <a:endParaRPr sz="4000" dirty="0">
              <a:solidFill>
                <a:srgbClr val="000000"/>
              </a:solidFill>
              <a:latin typeface="Times New Roman"/>
              <a:ea typeface="Times New Roman"/>
              <a:cs typeface="Times New Roman"/>
              <a:sym typeface="Times New Roman"/>
            </a:endParaRPr>
          </a:p>
          <a:p>
            <a:pPr marL="0" indent="0" algn="ctr">
              <a:spcBef>
                <a:spcPts val="1333"/>
              </a:spcBef>
              <a:buClr>
                <a:srgbClr val="353535"/>
              </a:buClr>
              <a:buSzPts val="750"/>
              <a:buNone/>
            </a:pPr>
            <a:endParaRPr sz="4000" dirty="0">
              <a:solidFill>
                <a:srgbClr val="000000"/>
              </a:solidFill>
              <a:latin typeface="Times New Roman"/>
              <a:ea typeface="Times New Roman"/>
              <a:cs typeface="Times New Roman"/>
              <a:sym typeface="Times New Roman"/>
            </a:endParaRPr>
          </a:p>
        </p:txBody>
      </p:sp>
      <p:sp>
        <p:nvSpPr>
          <p:cNvPr id="14" name="Google Shape;57;p1"/>
          <p:cNvSpPr/>
          <p:nvPr/>
        </p:nvSpPr>
        <p:spPr>
          <a:xfrm>
            <a:off x="6717323" y="3747401"/>
            <a:ext cx="5271478" cy="2574268"/>
          </a:xfrm>
          <a:prstGeom prst="rect">
            <a:avLst/>
          </a:prstGeom>
          <a:noFill/>
          <a:ln>
            <a:noFill/>
          </a:ln>
        </p:spPr>
        <p:txBody>
          <a:bodyPr spcFirstLastPara="1" wrap="square" lIns="121900" tIns="60933" rIns="121900" bIns="60933" anchor="t" anchorCtr="0">
            <a:noAutofit/>
          </a:bodyPr>
          <a:lstStyle/>
          <a:p>
            <a:r>
              <a:rPr lang="en-US" sz="2400" b="1" u="sng" dirty="0">
                <a:solidFill>
                  <a:srgbClr val="000000"/>
                </a:solidFill>
                <a:latin typeface="Arial"/>
                <a:ea typeface="Arial"/>
                <a:cs typeface="Arial"/>
                <a:sym typeface="Arial"/>
              </a:rPr>
              <a:t>Batch No:-</a:t>
            </a:r>
            <a:r>
              <a:rPr lang="en-US" sz="2400" dirty="0">
                <a:solidFill>
                  <a:srgbClr val="000000"/>
                </a:solidFill>
                <a:latin typeface="Arial"/>
                <a:ea typeface="Arial"/>
                <a:cs typeface="Arial"/>
                <a:sym typeface="Arial"/>
              </a:rPr>
              <a:t> </a:t>
            </a:r>
            <a:endParaRPr sz="2400" dirty="0"/>
          </a:p>
          <a:p>
            <a:r>
              <a:rPr lang="en-US" sz="2400" b="1" u="sng" dirty="0">
                <a:solidFill>
                  <a:srgbClr val="000000"/>
                </a:solidFill>
                <a:latin typeface="Arial"/>
                <a:ea typeface="Arial"/>
                <a:cs typeface="Arial"/>
                <a:sym typeface="Arial"/>
              </a:rPr>
              <a:t>Project Team  Members: </a:t>
            </a:r>
            <a:endParaRPr sz="2400" dirty="0"/>
          </a:p>
          <a:p>
            <a:endParaRPr sz="2400" dirty="0">
              <a:solidFill>
                <a:srgbClr val="000000"/>
              </a:solidFill>
              <a:latin typeface="Arial"/>
              <a:ea typeface="Arial"/>
              <a:cs typeface="Arial"/>
              <a:sym typeface="Arial"/>
            </a:endParaRPr>
          </a:p>
          <a:p>
            <a:r>
              <a:rPr lang="en-IN" sz="2400" b="1" dirty="0">
                <a:solidFill>
                  <a:srgbClr val="3F3F3F"/>
                </a:solidFill>
                <a:latin typeface="Calibri"/>
                <a:ea typeface="Calibri"/>
                <a:cs typeface="Calibri"/>
                <a:sym typeface="Calibri"/>
              </a:rPr>
              <a:t>ABC	                  (1AY19IS0XX)</a:t>
            </a:r>
          </a:p>
          <a:p>
            <a:r>
              <a:rPr lang="en-IN" sz="2400" b="1" dirty="0">
                <a:solidFill>
                  <a:srgbClr val="3F3F3F"/>
                </a:solidFill>
                <a:latin typeface="Calibri"/>
                <a:ea typeface="Calibri"/>
                <a:cs typeface="Calibri"/>
                <a:sym typeface="Calibri"/>
              </a:rPr>
              <a:t>PQR                            (1AY19IS0XX)</a:t>
            </a:r>
          </a:p>
          <a:p>
            <a:r>
              <a:rPr lang="en-IN" sz="2400" b="1" dirty="0">
                <a:solidFill>
                  <a:srgbClr val="3F3F3F"/>
                </a:solidFill>
                <a:latin typeface="Calibri"/>
                <a:ea typeface="Calibri"/>
                <a:cs typeface="Calibri"/>
                <a:sym typeface="Calibri"/>
              </a:rPr>
              <a:t>XYZ                              (1AY19IS1XX)</a:t>
            </a:r>
          </a:p>
          <a:p>
            <a:r>
              <a:rPr lang="en-IN" sz="2400" b="1" dirty="0">
                <a:solidFill>
                  <a:srgbClr val="3F3F3F"/>
                </a:solidFill>
                <a:latin typeface="Calibri"/>
                <a:ea typeface="Calibri"/>
                <a:cs typeface="Calibri"/>
                <a:sym typeface="Calibri"/>
              </a:rPr>
              <a:t>IJK          	                   (1AY19IS1XX)</a:t>
            </a:r>
          </a:p>
          <a:p>
            <a:endParaRPr lang="en-GB" sz="2400" dirty="0">
              <a:solidFill>
                <a:srgbClr val="404040"/>
              </a:solidFill>
              <a:latin typeface="Century Gothic"/>
              <a:ea typeface="Century Gothic"/>
              <a:cs typeface="Century Gothic"/>
              <a:sym typeface="Century Gothic"/>
            </a:endParaRPr>
          </a:p>
        </p:txBody>
      </p:sp>
      <p:sp>
        <p:nvSpPr>
          <p:cNvPr id="15" name="Google Shape;58;p1"/>
          <p:cNvSpPr txBox="1"/>
          <p:nvPr/>
        </p:nvSpPr>
        <p:spPr>
          <a:xfrm>
            <a:off x="2587509" y="87923"/>
            <a:ext cx="9155364" cy="615462"/>
          </a:xfrm>
          <a:prstGeom prst="rect">
            <a:avLst/>
          </a:prstGeom>
          <a:noFill/>
          <a:ln>
            <a:noFill/>
          </a:ln>
        </p:spPr>
        <p:txBody>
          <a:bodyPr spcFirstLastPara="1" wrap="square" lIns="121900" tIns="60933" rIns="121900" bIns="60933" anchor="t" anchorCtr="0">
            <a:noAutofit/>
          </a:bodyPr>
          <a:lstStyle/>
          <a:p>
            <a:pPr algn="ctr"/>
            <a:r>
              <a:rPr lang="en-US" sz="3200" dirty="0">
                <a:solidFill>
                  <a:srgbClr val="C00000"/>
                </a:solidFill>
                <a:latin typeface="Calibri"/>
                <a:ea typeface="Calibri"/>
                <a:cs typeface="Calibri"/>
                <a:sym typeface="Calibri"/>
              </a:rPr>
              <a:t>Mini  Project(</a:t>
            </a:r>
            <a:r>
              <a:rPr lang="en-US" sz="3200" dirty="0">
                <a:solidFill>
                  <a:srgbClr val="C00000"/>
                </a:solidFill>
              </a:rPr>
              <a:t>BIS586</a:t>
            </a:r>
            <a:r>
              <a:rPr lang="en-US" sz="3200" dirty="0">
                <a:solidFill>
                  <a:srgbClr val="C00000"/>
                </a:solidFill>
                <a:latin typeface="Calibri"/>
                <a:ea typeface="Calibri"/>
                <a:cs typeface="Calibri"/>
                <a:sym typeface="Calibri"/>
              </a:rPr>
              <a:t>) Presentation –(2025-2026)</a:t>
            </a:r>
            <a:endParaRPr sz="3200" dirty="0">
              <a:solidFill>
                <a:srgbClr val="C00000"/>
              </a:solidFill>
            </a:endParaRPr>
          </a:p>
        </p:txBody>
      </p:sp>
    </p:spTree>
    <p:extLst>
      <p:ext uri="{BB962C8B-B14F-4D97-AF65-F5344CB8AC3E}">
        <p14:creationId xmlns:p14="http://schemas.microsoft.com/office/powerpoint/2010/main" val="862995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Google Shape;64;p2"/>
          <p:cNvSpPr txBox="1">
            <a:spLocks noGrp="1"/>
          </p:cNvSpPr>
          <p:nvPr>
            <p:ph type="ctrTitle" idx="4294967295"/>
          </p:nvPr>
        </p:nvSpPr>
        <p:spPr>
          <a:xfrm>
            <a:off x="1699060" y="159736"/>
            <a:ext cx="10354340" cy="401657"/>
          </a:xfrm>
          <a:prstGeom prst="rect">
            <a:avLst/>
          </a:prstGeom>
          <a:noFill/>
          <a:ln>
            <a:noFill/>
          </a:ln>
        </p:spPr>
        <p:txBody>
          <a:bodyPr spcFirstLastPara="1" vert="horz" wrap="square" lIns="121900" tIns="121900" rIns="121900" bIns="121900" rtlCol="0" anchor="t" anchorCtr="0">
            <a:noAutofit/>
          </a:bodyPr>
          <a:lstStyle/>
          <a:p>
            <a:pPr algn="ctr">
              <a:spcBef>
                <a:spcPts val="0"/>
              </a:spcBef>
            </a:pPr>
            <a:r>
              <a:rPr lang="en-US" sz="3733" b="1" dirty="0">
                <a:solidFill>
                  <a:srgbClr val="1581AA"/>
                </a:solidFill>
                <a:latin typeface="Calibri"/>
                <a:ea typeface="Calibri"/>
                <a:cs typeface="Calibri"/>
                <a:sym typeface="Calibri"/>
              </a:rPr>
              <a:t>Agenda</a:t>
            </a:r>
            <a:endParaRPr sz="1467" b="1" dirty="0"/>
          </a:p>
        </p:txBody>
      </p:sp>
      <p:sp>
        <p:nvSpPr>
          <p:cNvPr id="3" name="Google Shape;65;p2"/>
          <p:cNvSpPr txBox="1">
            <a:spLocks noGrp="1"/>
          </p:cNvSpPr>
          <p:nvPr>
            <p:ph type="sldNum" idx="12"/>
          </p:nvPr>
        </p:nvSpPr>
        <p:spPr>
          <a:xfrm>
            <a:off x="1508044" y="6493933"/>
            <a:ext cx="781051" cy="364067"/>
          </a:xfrm>
          <a:prstGeom prst="rect">
            <a:avLst/>
          </a:prstGeom>
          <a:noFill/>
          <a:ln>
            <a:noFill/>
          </a:ln>
        </p:spPr>
        <p:txBody>
          <a:bodyPr spcFirstLastPara="1" vert="horz" wrap="square" lIns="121900" tIns="60933" rIns="121900" bIns="60933" rtlCol="0" anchor="ctr" anchorCtr="0">
            <a:noAutofit/>
          </a:bodyPr>
          <a:lstStyle/>
          <a:p>
            <a:fld id="{00000000-1234-1234-1234-123412341234}" type="slidenum">
              <a:rPr lang="en-US"/>
              <a:pPr/>
              <a:t>2</a:t>
            </a:fld>
            <a:endParaRPr/>
          </a:p>
        </p:txBody>
      </p:sp>
      <p:sp>
        <p:nvSpPr>
          <p:cNvPr id="4" name="Google Shape;66;p2"/>
          <p:cNvSpPr/>
          <p:nvPr/>
        </p:nvSpPr>
        <p:spPr>
          <a:xfrm>
            <a:off x="1508044" y="863600"/>
            <a:ext cx="781051" cy="364067"/>
          </a:xfrm>
          <a:prstGeom prst="rect">
            <a:avLst/>
          </a:prstGeom>
          <a:noFill/>
          <a:ln>
            <a:noFill/>
          </a:ln>
        </p:spPr>
        <p:txBody>
          <a:bodyPr spcFirstLastPara="1" wrap="square" lIns="121900" tIns="60933" rIns="121900" bIns="60933" anchor="ctr" anchorCtr="0">
            <a:noAutofit/>
          </a:bodyPr>
          <a:lstStyle/>
          <a:p>
            <a:pPr algn="r"/>
            <a:fld id="{00000000-1234-1234-1234-123412341234}" type="slidenum">
              <a:rPr lang="en-US" sz="2667">
                <a:solidFill>
                  <a:srgbClr val="FEFFFF"/>
                </a:solidFill>
                <a:latin typeface="Century Gothic"/>
                <a:ea typeface="Century Gothic"/>
                <a:cs typeface="Century Gothic"/>
                <a:sym typeface="Century Gothic"/>
              </a:rPr>
              <a:pPr algn="r"/>
              <a:t>2</a:t>
            </a:fld>
            <a:endParaRPr sz="2667">
              <a:solidFill>
                <a:srgbClr val="FEFFFF"/>
              </a:solidFill>
              <a:latin typeface="Century Gothic"/>
              <a:ea typeface="Century Gothic"/>
              <a:cs typeface="Century Gothic"/>
              <a:sym typeface="Century Gothic"/>
            </a:endParaRPr>
          </a:p>
        </p:txBody>
      </p:sp>
      <p:sp>
        <p:nvSpPr>
          <p:cNvPr id="5" name="TextBox 4"/>
          <p:cNvSpPr txBox="1"/>
          <p:nvPr/>
        </p:nvSpPr>
        <p:spPr>
          <a:xfrm>
            <a:off x="2655278" y="863601"/>
            <a:ext cx="8708572" cy="4359335"/>
          </a:xfrm>
          <a:prstGeom prst="rect">
            <a:avLst/>
          </a:prstGeom>
          <a:noFill/>
        </p:spPr>
        <p:txBody>
          <a:bodyPr wrap="square" rtlCol="0">
            <a:spAutoFit/>
          </a:bodyPr>
          <a:lstStyle/>
          <a:p>
            <a:pPr marL="457189" indent="-457189">
              <a:buAutoNum type="arabicPeriod"/>
            </a:pPr>
            <a:r>
              <a:rPr lang="en-US" sz="2133" dirty="0">
                <a:latin typeface="+mj-lt"/>
              </a:rPr>
              <a:t>Abstract</a:t>
            </a:r>
          </a:p>
          <a:p>
            <a:pPr marL="457189" indent="-457189">
              <a:buAutoNum type="arabicPeriod"/>
            </a:pPr>
            <a:r>
              <a:rPr lang="en-US" sz="2133" dirty="0">
                <a:latin typeface="+mj-lt"/>
              </a:rPr>
              <a:t>Introduction</a:t>
            </a:r>
          </a:p>
          <a:p>
            <a:pPr marL="457189" indent="-457189">
              <a:buAutoNum type="arabicPeriod"/>
            </a:pPr>
            <a:r>
              <a:rPr lang="en-US" sz="2133" dirty="0">
                <a:latin typeface="+mj-lt"/>
              </a:rPr>
              <a:t>Problem Statement</a:t>
            </a:r>
          </a:p>
          <a:p>
            <a:pPr marL="457189" indent="-457189">
              <a:buAutoNum type="arabicPeriod"/>
            </a:pPr>
            <a:r>
              <a:rPr lang="en-US" sz="2133" dirty="0">
                <a:latin typeface="+mj-lt"/>
              </a:rPr>
              <a:t>Requirement Specification(Hardware &amp; Software)</a:t>
            </a:r>
          </a:p>
          <a:p>
            <a:pPr marL="457189" indent="-457189">
              <a:buAutoNum type="arabicPeriod"/>
            </a:pPr>
            <a:r>
              <a:rPr lang="en-US" sz="2133" dirty="0">
                <a:latin typeface="+mj-lt"/>
              </a:rPr>
              <a:t>System Design ( Data Flow Diagram and </a:t>
            </a:r>
            <a:r>
              <a:rPr lang="en-US" sz="2133" dirty="0"/>
              <a:t>Flow Charts or Class Diagram or Use Case Diagram or Activity diagram)</a:t>
            </a:r>
          </a:p>
          <a:p>
            <a:r>
              <a:rPr lang="en-US" sz="2133" dirty="0"/>
              <a:t> 7.  </a:t>
            </a:r>
            <a:r>
              <a:rPr lang="en-US" sz="2133" dirty="0">
                <a:latin typeface="+mj-lt"/>
              </a:rPr>
              <a:t>Implementation (All Modules)</a:t>
            </a:r>
          </a:p>
          <a:p>
            <a:r>
              <a:rPr lang="en-US" sz="2133" dirty="0">
                <a:latin typeface="+mj-lt"/>
              </a:rPr>
              <a:t> 8.  Testing</a:t>
            </a:r>
          </a:p>
          <a:p>
            <a:r>
              <a:rPr lang="en-US" sz="2133" dirty="0">
                <a:latin typeface="+mj-lt"/>
              </a:rPr>
              <a:t> 9.  Test Cases</a:t>
            </a:r>
          </a:p>
          <a:p>
            <a:r>
              <a:rPr lang="en-US" sz="2133" dirty="0">
                <a:latin typeface="+mj-lt"/>
              </a:rPr>
              <a:t>10. Results(Snapshots)</a:t>
            </a:r>
          </a:p>
          <a:p>
            <a:r>
              <a:rPr lang="en-US" sz="2133" dirty="0">
                <a:latin typeface="+mj-lt"/>
              </a:rPr>
              <a:t>11. Future Enhancements</a:t>
            </a:r>
          </a:p>
          <a:p>
            <a:r>
              <a:rPr lang="en-US" sz="2133" dirty="0">
                <a:latin typeface="+mj-lt"/>
              </a:rPr>
              <a:t>12. Conclusion</a:t>
            </a:r>
          </a:p>
          <a:p>
            <a:r>
              <a:rPr lang="en-US" sz="2133" dirty="0">
                <a:latin typeface="+mj-lt"/>
              </a:rPr>
              <a:t>13. </a:t>
            </a:r>
            <a:r>
              <a:rPr lang="en-US" sz="2133" dirty="0"/>
              <a:t>References</a:t>
            </a:r>
          </a:p>
        </p:txBody>
      </p:sp>
    </p:spTree>
    <p:extLst>
      <p:ext uri="{BB962C8B-B14F-4D97-AF65-F5344CB8AC3E}">
        <p14:creationId xmlns:p14="http://schemas.microsoft.com/office/powerpoint/2010/main" val="1240674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Google Shape;72;p3"/>
          <p:cNvSpPr txBox="1">
            <a:spLocks noGrp="1"/>
          </p:cNvSpPr>
          <p:nvPr>
            <p:ph type="ctrTitle" idx="4294967295"/>
          </p:nvPr>
        </p:nvSpPr>
        <p:spPr>
          <a:xfrm>
            <a:off x="1519907" y="313593"/>
            <a:ext cx="10261129" cy="999081"/>
          </a:xfrm>
          <a:prstGeom prst="rect">
            <a:avLst/>
          </a:prstGeom>
          <a:noFill/>
          <a:ln>
            <a:noFill/>
          </a:ln>
        </p:spPr>
        <p:txBody>
          <a:bodyPr spcFirstLastPara="1" vert="horz" wrap="square" lIns="121900" tIns="121900" rIns="121900" bIns="121900" rtlCol="0" anchor="t" anchorCtr="0">
            <a:noAutofit/>
          </a:bodyPr>
          <a:lstStyle/>
          <a:p>
            <a:pPr algn="ctr">
              <a:spcBef>
                <a:spcPts val="0"/>
              </a:spcBef>
            </a:pPr>
            <a:r>
              <a:rPr lang="en-US" sz="3733" b="1" dirty="0">
                <a:solidFill>
                  <a:srgbClr val="1581AA"/>
                </a:solidFill>
                <a:latin typeface="Calibri"/>
                <a:ea typeface="Calibri"/>
                <a:cs typeface="Calibri"/>
                <a:sym typeface="Calibri"/>
              </a:rPr>
              <a:t>Abstract</a:t>
            </a:r>
            <a:br>
              <a:rPr lang="en-US" sz="3733" b="1" dirty="0">
                <a:solidFill>
                  <a:srgbClr val="000000"/>
                </a:solidFill>
                <a:latin typeface="Calibri"/>
                <a:ea typeface="Calibri"/>
                <a:cs typeface="Calibri"/>
                <a:sym typeface="Calibri"/>
              </a:rPr>
            </a:br>
            <a:endParaRPr sz="3733" b="1" dirty="0">
              <a:solidFill>
                <a:srgbClr val="1581AA"/>
              </a:solidFill>
              <a:latin typeface="Calibri"/>
              <a:ea typeface="Calibri"/>
              <a:cs typeface="Calibri"/>
              <a:sym typeface="Calibri"/>
            </a:endParaRPr>
          </a:p>
        </p:txBody>
      </p:sp>
      <p:sp>
        <p:nvSpPr>
          <p:cNvPr id="3" name="Google Shape;74;p3"/>
          <p:cNvSpPr txBox="1">
            <a:spLocks noGrp="1"/>
          </p:cNvSpPr>
          <p:nvPr>
            <p:ph type="sldNum" idx="12"/>
          </p:nvPr>
        </p:nvSpPr>
        <p:spPr>
          <a:xfrm>
            <a:off x="1393744" y="6655125"/>
            <a:ext cx="781051" cy="364067"/>
          </a:xfrm>
          <a:prstGeom prst="rect">
            <a:avLst/>
          </a:prstGeom>
          <a:noFill/>
          <a:ln>
            <a:noFill/>
          </a:ln>
        </p:spPr>
        <p:txBody>
          <a:bodyPr spcFirstLastPara="1" vert="horz" wrap="square" lIns="121900" tIns="60933" rIns="121900" bIns="60933" rtlCol="0" anchor="ctr" anchorCtr="0">
            <a:noAutofit/>
          </a:bodyPr>
          <a:lstStyle/>
          <a:p>
            <a:fld id="{00000000-1234-1234-1234-123412341234}" type="slidenum">
              <a:rPr lang="en-US"/>
              <a:pPr/>
              <a:t>3</a:t>
            </a:fld>
            <a:endParaRPr/>
          </a:p>
        </p:txBody>
      </p:sp>
      <p:sp>
        <p:nvSpPr>
          <p:cNvPr id="4" name="Google Shape;75;p3"/>
          <p:cNvSpPr/>
          <p:nvPr/>
        </p:nvSpPr>
        <p:spPr>
          <a:xfrm>
            <a:off x="4432884" y="3718373"/>
            <a:ext cx="781051" cy="364067"/>
          </a:xfrm>
          <a:prstGeom prst="rect">
            <a:avLst/>
          </a:prstGeom>
          <a:noFill/>
          <a:ln>
            <a:noFill/>
          </a:ln>
        </p:spPr>
        <p:txBody>
          <a:bodyPr spcFirstLastPara="1" wrap="square" lIns="121900" tIns="60933" rIns="121900" bIns="60933" anchor="ctr" anchorCtr="0">
            <a:noAutofit/>
          </a:bodyPr>
          <a:lstStyle/>
          <a:p>
            <a:pPr algn="r"/>
            <a:fld id="{00000000-1234-1234-1234-123412341234}" type="slidenum">
              <a:rPr lang="en-US" sz="2667">
                <a:solidFill>
                  <a:srgbClr val="FEFFFF"/>
                </a:solidFill>
                <a:latin typeface="Century Gothic"/>
                <a:ea typeface="Century Gothic"/>
                <a:cs typeface="Century Gothic"/>
                <a:sym typeface="Century Gothic"/>
              </a:rPr>
              <a:pPr algn="r"/>
              <a:t>3</a:t>
            </a:fld>
            <a:endParaRPr sz="2667">
              <a:solidFill>
                <a:srgbClr val="FEFFFF"/>
              </a:solidFill>
              <a:latin typeface="Century Gothic"/>
              <a:ea typeface="Century Gothic"/>
              <a:cs typeface="Century Gothic"/>
              <a:sym typeface="Century Gothic"/>
            </a:endParaRPr>
          </a:p>
        </p:txBody>
      </p:sp>
      <p:sp>
        <p:nvSpPr>
          <p:cNvPr id="6" name="TextBox 5">
            <a:extLst>
              <a:ext uri="{FF2B5EF4-FFF2-40B4-BE49-F238E27FC236}">
                <a16:creationId xmlns:a16="http://schemas.microsoft.com/office/drawing/2014/main" id="{32B5FE4B-DB5B-E621-0F4F-B764D8E56BCB}"/>
              </a:ext>
            </a:extLst>
          </p:cNvPr>
          <p:cNvSpPr txBox="1"/>
          <p:nvPr/>
        </p:nvSpPr>
        <p:spPr>
          <a:xfrm>
            <a:off x="2545977" y="1594714"/>
            <a:ext cx="8731623" cy="4247317"/>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AI mock interview</a:t>
            </a:r>
            <a:r>
              <a:rPr lang="en-US" dirty="0">
                <a:latin typeface="Times New Roman" panose="02020603050405020304" pitchFamily="18" charset="0"/>
                <a:cs typeface="Times New Roman" panose="02020603050405020304" pitchFamily="18" charset="0"/>
              </a:rPr>
              <a:t> is an advanced cloud-based mock interview platform powered by Google’s </a:t>
            </a:r>
            <a:r>
              <a:rPr lang="en-US" b="1" dirty="0">
                <a:latin typeface="Times New Roman" panose="02020603050405020304" pitchFamily="18" charset="0"/>
                <a:cs typeface="Times New Roman" panose="02020603050405020304" pitchFamily="18" charset="0"/>
              </a:rPr>
              <a:t>Gemini API</a:t>
            </a:r>
            <a:r>
              <a:rPr lang="en-US" dirty="0">
                <a:latin typeface="Times New Roman" panose="02020603050405020304" pitchFamily="18" charset="0"/>
                <a:cs typeface="Times New Roman" panose="02020603050405020304" pitchFamily="18" charset="0"/>
              </a:rPr>
              <a:t>. The system leverages AI to generate domain-specific interview questions, evaluate candidate responses, and deliver instant, personalized feedback. Designed to provide a comprehensive and scalable interview preparation experience, it supports a wide range of technical domains and job roles. Built with </a:t>
            </a:r>
            <a:r>
              <a:rPr lang="en-US" b="1" dirty="0">
                <a:latin typeface="Times New Roman" panose="02020603050405020304" pitchFamily="18" charset="0"/>
                <a:cs typeface="Times New Roman" panose="02020603050405020304" pitchFamily="18" charset="0"/>
              </a:rPr>
              <a:t>Next.js (App Router)</a:t>
            </a:r>
            <a:r>
              <a:rPr lang="en-US" dirty="0">
                <a:latin typeface="Times New Roman" panose="02020603050405020304" pitchFamily="18" charset="0"/>
                <a:cs typeface="Times New Roman" panose="02020603050405020304" pitchFamily="18" charset="0"/>
              </a:rPr>
              <a:t> on the frontend and a backend with API routes, the platform ensures smooth user interaction, real-time response evaluation, and actionable insights to improve interview performance.</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On the backend, </a:t>
            </a:r>
            <a:r>
              <a:rPr lang="en-US" b="1" dirty="0">
                <a:latin typeface="Times New Roman" panose="02020603050405020304" pitchFamily="18" charset="0"/>
                <a:cs typeface="Times New Roman" panose="02020603050405020304" pitchFamily="18" charset="0"/>
              </a:rPr>
              <a:t>Drizzle ORM</a:t>
            </a:r>
            <a:r>
              <a:rPr lang="en-US" dirty="0">
                <a:latin typeface="Times New Roman" panose="02020603050405020304" pitchFamily="18" charset="0"/>
                <a:cs typeface="Times New Roman" panose="02020603050405020304" pitchFamily="18" charset="0"/>
              </a:rPr>
              <a:t> paired with </a:t>
            </a:r>
            <a:r>
              <a:rPr lang="en-US" b="1" dirty="0" err="1">
                <a:latin typeface="Times New Roman" panose="02020603050405020304" pitchFamily="18" charset="0"/>
                <a:cs typeface="Times New Roman" panose="02020603050405020304" pitchFamily="18" charset="0"/>
              </a:rPr>
              <a:t>NeonDB</a:t>
            </a:r>
            <a:r>
              <a:rPr lang="en-US" b="1" dirty="0">
                <a:latin typeface="Times New Roman" panose="02020603050405020304" pitchFamily="18" charset="0"/>
                <a:cs typeface="Times New Roman" panose="02020603050405020304" pitchFamily="18" charset="0"/>
              </a:rPr>
              <a:t> (Postgres)</a:t>
            </a:r>
            <a:r>
              <a:rPr lang="en-US" dirty="0">
                <a:latin typeface="Times New Roman" panose="02020603050405020304" pitchFamily="18" charset="0"/>
                <a:cs typeface="Times New Roman" panose="02020603050405020304" pitchFamily="18" charset="0"/>
              </a:rPr>
              <a:t> ensures efficient data persistence, while </a:t>
            </a:r>
            <a:r>
              <a:rPr lang="en-US" b="1" dirty="0">
                <a:latin typeface="Times New Roman" panose="02020603050405020304" pitchFamily="18" charset="0"/>
                <a:cs typeface="Times New Roman" panose="02020603050405020304" pitchFamily="18" charset="0"/>
              </a:rPr>
              <a:t>Clerk</a:t>
            </a:r>
            <a:r>
              <a:rPr lang="en-US" dirty="0">
                <a:latin typeface="Times New Roman" panose="02020603050405020304" pitchFamily="18" charset="0"/>
                <a:cs typeface="Times New Roman" panose="02020603050405020304" pitchFamily="18" charset="0"/>
              </a:rPr>
              <a:t> handles secure user authentication. For premium features, the platform integrates </a:t>
            </a:r>
            <a:r>
              <a:rPr lang="en-US" b="1" dirty="0">
                <a:latin typeface="Times New Roman" panose="02020603050405020304" pitchFamily="18" charset="0"/>
                <a:cs typeface="Times New Roman" panose="02020603050405020304" pitchFamily="18" charset="0"/>
              </a:rPr>
              <a:t>Stripe</a:t>
            </a:r>
            <a:r>
              <a:rPr lang="en-US" dirty="0">
                <a:latin typeface="Times New Roman" panose="02020603050405020304" pitchFamily="18" charset="0"/>
                <a:cs typeface="Times New Roman" panose="02020603050405020304" pitchFamily="18" charset="0"/>
              </a:rPr>
              <a:t> to manage paid upgrades, allowing users to unlock advanced functionality. With scalability in mind, </a:t>
            </a:r>
            <a:r>
              <a:rPr lang="en-US" b="1" dirty="0">
                <a:latin typeface="Times New Roman" panose="02020603050405020304" pitchFamily="18" charset="0"/>
                <a:cs typeface="Times New Roman" panose="02020603050405020304" pitchFamily="18" charset="0"/>
              </a:rPr>
              <a:t>Docker</a:t>
            </a:r>
            <a:r>
              <a:rPr lang="en-US" dirty="0">
                <a:latin typeface="Times New Roman" panose="02020603050405020304" pitchFamily="18" charset="0"/>
                <a:cs typeface="Times New Roman" panose="02020603050405020304" pitchFamily="18" charset="0"/>
              </a:rPr>
              <a:t> and </a:t>
            </a:r>
            <a:r>
              <a:rPr lang="en-US" b="1" dirty="0" err="1">
                <a:latin typeface="Times New Roman" panose="02020603050405020304" pitchFamily="18" charset="0"/>
                <a:cs typeface="Times New Roman" panose="02020603050405020304" pitchFamily="18" charset="0"/>
              </a:rPr>
              <a:t>Vercel</a:t>
            </a:r>
            <a:r>
              <a:rPr lang="en-US" dirty="0">
                <a:latin typeface="Times New Roman" panose="02020603050405020304" pitchFamily="18" charset="0"/>
                <a:cs typeface="Times New Roman" panose="02020603050405020304" pitchFamily="18" charset="0"/>
              </a:rPr>
              <a:t> provide seamless deployment, ensuring the platform is both reliable and easy to maintain. </a:t>
            </a:r>
            <a:r>
              <a:rPr lang="en-US" dirty="0" err="1">
                <a:latin typeface="Times New Roman" panose="02020603050405020304" pitchFamily="18" charset="0"/>
                <a:cs typeface="Times New Roman" panose="02020603050405020304" pitchFamily="18" charset="0"/>
              </a:rPr>
              <a:t>SimulateRecruitAI’s</a:t>
            </a:r>
            <a:r>
              <a:rPr lang="en-US" dirty="0">
                <a:latin typeface="Times New Roman" panose="02020603050405020304" pitchFamily="18" charset="0"/>
                <a:cs typeface="Times New Roman" panose="02020603050405020304" pitchFamily="18" charset="0"/>
              </a:rPr>
              <a:t> mission is to democratize access to effective interview preparation, making it an ideal tool for students, job seekers, and enterprises looking to streamline interview processes.</a:t>
            </a:r>
          </a:p>
        </p:txBody>
      </p:sp>
    </p:spTree>
    <p:extLst>
      <p:ext uri="{BB962C8B-B14F-4D97-AF65-F5344CB8AC3E}">
        <p14:creationId xmlns:p14="http://schemas.microsoft.com/office/powerpoint/2010/main" val="349016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2757502" y="351686"/>
            <a:ext cx="6917933" cy="502766"/>
          </a:xfrm>
          <a:prstGeom prst="rect">
            <a:avLst/>
          </a:prstGeom>
          <a:noFill/>
        </p:spPr>
        <p:txBody>
          <a:bodyPr wrap="square" rtlCol="0">
            <a:spAutoFit/>
          </a:bodyPr>
          <a:lstStyle/>
          <a:p>
            <a:pPr algn="ctr"/>
            <a:r>
              <a:rPr lang="en-US" sz="2667" b="1" dirty="0">
                <a:solidFill>
                  <a:srgbClr val="1581AA"/>
                </a:solidFill>
                <a:latin typeface="Calibri"/>
                <a:ea typeface="Calibri"/>
                <a:cs typeface="Calibri"/>
                <a:sym typeface="Calibri"/>
              </a:rPr>
              <a:t>             INTRODUCTION</a:t>
            </a:r>
            <a:endParaRPr lang="en-US" sz="2667" dirty="0"/>
          </a:p>
        </p:txBody>
      </p:sp>
      <p:sp>
        <p:nvSpPr>
          <p:cNvPr id="4" name="TextBox 3">
            <a:extLst>
              <a:ext uri="{FF2B5EF4-FFF2-40B4-BE49-F238E27FC236}">
                <a16:creationId xmlns:a16="http://schemas.microsoft.com/office/drawing/2014/main" id="{126F705C-16B6-762F-505D-D92DC4505E0E}"/>
              </a:ext>
            </a:extLst>
          </p:cNvPr>
          <p:cNvSpPr txBox="1"/>
          <p:nvPr/>
        </p:nvSpPr>
        <p:spPr>
          <a:xfrm>
            <a:off x="2841812" y="1353671"/>
            <a:ext cx="8274423" cy="4524315"/>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Traditional mock interview systems have significant limitations — they are often resource-intensive, require human involvement, and suffer from inconsistencies in question quality and feedback. In addition, these systems are typically rigid, offering little room for personalization or skill-level adjustments. With the increasing need for scalable, efficient, and accessible interview preparation, AI presents an ideal solution. Artificial intelligence can provide on-demand, personalized practice that adapts to the user's experience level, learning style, and industry focus. It not only automates the interview process but also gives precise feedback tailored to individual responses, ensuring both practice and learning.</a:t>
            </a:r>
          </a:p>
          <a:p>
            <a:pPr algn="just"/>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advent of generative AI, like Google’s </a:t>
            </a:r>
            <a:r>
              <a:rPr lang="en-US" b="1" dirty="0">
                <a:latin typeface="Times New Roman" panose="02020603050405020304" pitchFamily="18" charset="0"/>
                <a:cs typeface="Times New Roman" panose="02020603050405020304" pitchFamily="18" charset="0"/>
              </a:rPr>
              <a:t>Gemini API</a:t>
            </a:r>
            <a:r>
              <a:rPr lang="en-US" dirty="0">
                <a:latin typeface="Times New Roman" panose="02020603050405020304" pitchFamily="18" charset="0"/>
                <a:cs typeface="Times New Roman" panose="02020603050405020304" pitchFamily="18" charset="0"/>
              </a:rPr>
              <a:t>, allows for the creation of a system that overcomes these limitations by providing an automated, intelligent solution. This platform enables users to practice interviews anytime and anywhere, receiving instant, AI-generated feedback, which would be impossible with traditional systems. By doing so, it addresses the growing demand for effective and scalable training tools, catering to a wide audience ranging from students to professionals.</a:t>
            </a:r>
          </a:p>
        </p:txBody>
      </p:sp>
    </p:spTree>
    <p:extLst>
      <p:ext uri="{BB962C8B-B14F-4D97-AF65-F5344CB8AC3E}">
        <p14:creationId xmlns:p14="http://schemas.microsoft.com/office/powerpoint/2010/main" val="1762478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Google Shape;80;p4"/>
          <p:cNvSpPr txBox="1">
            <a:spLocks noGrp="1"/>
          </p:cNvSpPr>
          <p:nvPr>
            <p:ph type="sldNum" idx="12"/>
          </p:nvPr>
        </p:nvSpPr>
        <p:spPr>
          <a:xfrm>
            <a:off x="1771813" y="6910103"/>
            <a:ext cx="781051" cy="364067"/>
          </a:xfrm>
          <a:prstGeom prst="rect">
            <a:avLst/>
          </a:prstGeom>
          <a:noFill/>
          <a:ln>
            <a:noFill/>
          </a:ln>
        </p:spPr>
        <p:txBody>
          <a:bodyPr spcFirstLastPara="1" vert="horz" wrap="square" lIns="121900" tIns="60933" rIns="121900" bIns="60933" rtlCol="0" anchor="ctr" anchorCtr="0">
            <a:noAutofit/>
          </a:bodyPr>
          <a:lstStyle/>
          <a:p>
            <a:r>
              <a:rPr lang="en-US"/>
              <a:t>4</a:t>
            </a:r>
            <a:endParaRPr/>
          </a:p>
        </p:txBody>
      </p:sp>
      <p:sp>
        <p:nvSpPr>
          <p:cNvPr id="3" name="Google Shape;81;p4"/>
          <p:cNvSpPr txBox="1">
            <a:spLocks/>
          </p:cNvSpPr>
          <p:nvPr/>
        </p:nvSpPr>
        <p:spPr>
          <a:xfrm>
            <a:off x="2552864" y="492371"/>
            <a:ext cx="9211929" cy="854840"/>
          </a:xfrm>
          <a:prstGeom prst="rect">
            <a:avLst/>
          </a:prstGeom>
          <a:noFill/>
          <a:ln>
            <a:noFill/>
          </a:ln>
        </p:spPr>
        <p:txBody>
          <a:bodyPr spcFirstLastPara="1" vert="horz" wrap="square" lIns="121900" tIns="121900" rIns="121900" bIns="121900"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733" b="1">
                <a:solidFill>
                  <a:srgbClr val="1581AA"/>
                </a:solidFill>
                <a:latin typeface="Calibri"/>
                <a:ea typeface="Calibri"/>
                <a:cs typeface="Calibri"/>
                <a:sym typeface="Calibri"/>
              </a:rPr>
              <a:t>PROBLEM STATEMENT</a:t>
            </a:r>
            <a:endParaRPr lang="en-US" sz="3733" dirty="0"/>
          </a:p>
        </p:txBody>
      </p:sp>
      <p:sp>
        <p:nvSpPr>
          <p:cNvPr id="4" name="TextBox 3">
            <a:extLst>
              <a:ext uri="{FF2B5EF4-FFF2-40B4-BE49-F238E27FC236}">
                <a16:creationId xmlns:a16="http://schemas.microsoft.com/office/drawing/2014/main" id="{740E7B5E-18A2-365F-C875-0BE204B9C7DF}"/>
              </a:ext>
            </a:extLst>
          </p:cNvPr>
          <p:cNvSpPr txBox="1"/>
          <p:nvPr/>
        </p:nvSpPr>
        <p:spPr>
          <a:xfrm>
            <a:off x="2552864" y="1492130"/>
            <a:ext cx="8708572" cy="5078313"/>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In the current landscape, learners and professionals preparing for interviews face significant challenges. Traditional interview preparation methods, such as mock interviews with mentors or online courses, are often resource-intensive, costly, and inconsistent. Many learners also struggle to get </a:t>
            </a:r>
            <a:r>
              <a:rPr lang="en-US" b="1" dirty="0">
                <a:latin typeface="Times New Roman" panose="02020603050405020304" pitchFamily="18" charset="0"/>
                <a:cs typeface="Times New Roman" panose="02020603050405020304" pitchFamily="18" charset="0"/>
              </a:rPr>
              <a:t>personalized feedback</a:t>
            </a:r>
            <a:r>
              <a:rPr lang="en-US" dirty="0">
                <a:latin typeface="Times New Roman" panose="02020603050405020304" pitchFamily="18" charset="0"/>
                <a:cs typeface="Times New Roman" panose="02020603050405020304" pitchFamily="18" charset="0"/>
              </a:rPr>
              <a:t>, which is crucial for improving their performance. Furthermore, current solutions often fail to provide </a:t>
            </a:r>
            <a:r>
              <a:rPr lang="en-US" b="1" dirty="0">
                <a:latin typeface="Times New Roman" panose="02020603050405020304" pitchFamily="18" charset="0"/>
                <a:cs typeface="Times New Roman" panose="02020603050405020304" pitchFamily="18" charset="0"/>
              </a:rPr>
              <a:t>scalability</a:t>
            </a:r>
            <a:r>
              <a:rPr lang="en-US" dirty="0">
                <a:latin typeface="Times New Roman" panose="02020603050405020304" pitchFamily="18" charset="0"/>
                <a:cs typeface="Times New Roman" panose="02020603050405020304" pitchFamily="18" charset="0"/>
              </a:rPr>
              <a:t> — interviews require scheduling and active participation from instructors or peers, limiting the frequency and depth of practice.</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Key Issues:</a:t>
            </a: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Lack of Personalization:</a:t>
            </a:r>
            <a:r>
              <a:rPr lang="en-US" dirty="0">
                <a:latin typeface="Times New Roman" panose="02020603050405020304" pitchFamily="18" charset="0"/>
                <a:cs typeface="Times New Roman" panose="02020603050405020304" pitchFamily="18" charset="0"/>
              </a:rPr>
              <a:t> Many existing tools and platforms offer generic, one-size-fits-all practice questions, failing to adapt to the user's skill level or area of focus. Users often end up practicing questions that may not be relevant to their specific job role or level of expertise.</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Inability to Scale:</a:t>
            </a:r>
            <a:r>
              <a:rPr lang="en-US" dirty="0">
                <a:latin typeface="Times New Roman" panose="02020603050405020304" pitchFamily="18" charset="0"/>
                <a:cs typeface="Times New Roman" panose="02020603050405020304" pitchFamily="18" charset="0"/>
              </a:rPr>
              <a:t> Many candidates may only have access to a limited number of mock interviews before their exam or job application deadline. Once the mock interview is over, they often don’t get the chance to repeat it with varied scenarios or improved practices.</a:t>
            </a:r>
          </a:p>
          <a:p>
            <a:pPr algn="just"/>
            <a:endParaRPr 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246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Slide Number Placeholder 4"/>
          <p:cNvSpPr>
            <a:spLocks noGrp="1"/>
          </p:cNvSpPr>
          <p:nvPr>
            <p:ph type="sldNum" idx="12"/>
          </p:nvPr>
        </p:nvSpPr>
        <p:spPr>
          <a:xfrm>
            <a:off x="1666306" y="6493933"/>
            <a:ext cx="781051" cy="364067"/>
          </a:xfrm>
        </p:spPr>
        <p:txBody>
          <a:bodyPr/>
          <a:lstStyle/>
          <a:p>
            <a:r>
              <a:rPr lang="en-US"/>
              <a:t>1</a:t>
            </a:r>
            <a:endParaRPr lang="en-US" sz="1867" b="0" i="0">
              <a:solidFill>
                <a:srgbClr val="000000"/>
              </a:solidFill>
              <a:latin typeface="Arial"/>
              <a:ea typeface="Arial"/>
              <a:cs typeface="Arial"/>
              <a:sym typeface="Arial"/>
            </a:endParaRPr>
          </a:p>
        </p:txBody>
      </p:sp>
      <p:sp>
        <p:nvSpPr>
          <p:cNvPr id="3" name="Rectangle 2"/>
          <p:cNvSpPr/>
          <p:nvPr/>
        </p:nvSpPr>
        <p:spPr>
          <a:xfrm>
            <a:off x="3819115" y="481612"/>
            <a:ext cx="6523261" cy="666786"/>
          </a:xfrm>
          <a:prstGeom prst="rect">
            <a:avLst/>
          </a:prstGeom>
        </p:spPr>
        <p:txBody>
          <a:bodyPr wrap="none">
            <a:spAutoFit/>
          </a:bodyPr>
          <a:lstStyle/>
          <a:p>
            <a:pPr marL="609585" indent="-304792" algn="ctr">
              <a:buSzPts val="1400"/>
            </a:pPr>
            <a:r>
              <a:rPr lang="en-US" sz="3733" b="1" dirty="0">
                <a:solidFill>
                  <a:srgbClr val="1581AA"/>
                </a:solidFill>
                <a:latin typeface="Calibri"/>
                <a:ea typeface="Calibri"/>
                <a:cs typeface="Calibri"/>
                <a:sym typeface="Calibri"/>
              </a:rPr>
              <a:t>REQUIREMENT SPECIFICATION</a:t>
            </a:r>
            <a:endParaRPr lang="en-US" sz="3733" dirty="0"/>
          </a:p>
        </p:txBody>
      </p:sp>
      <p:sp>
        <p:nvSpPr>
          <p:cNvPr id="5" name="TextBox 4">
            <a:extLst>
              <a:ext uri="{FF2B5EF4-FFF2-40B4-BE49-F238E27FC236}">
                <a16:creationId xmlns:a16="http://schemas.microsoft.com/office/drawing/2014/main" id="{51606B43-8C21-0EE5-8105-C422CB7F6F65}"/>
              </a:ext>
            </a:extLst>
          </p:cNvPr>
          <p:cNvSpPr txBox="1"/>
          <p:nvPr/>
        </p:nvSpPr>
        <p:spPr>
          <a:xfrm>
            <a:off x="2850776" y="1515035"/>
            <a:ext cx="8328212" cy="4801314"/>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Hardware:-</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Processor: Intel i5 or higher</a:t>
            </a:r>
          </a:p>
          <a:p>
            <a:pPr algn="just"/>
            <a:r>
              <a:rPr lang="en-US" dirty="0">
                <a:latin typeface="Times New Roman" panose="02020603050405020304" pitchFamily="18" charset="0"/>
                <a:cs typeface="Times New Roman" panose="02020603050405020304" pitchFamily="18" charset="0"/>
              </a:rPr>
              <a:t>RAM: 8 GB+</a:t>
            </a:r>
          </a:p>
          <a:p>
            <a:pPr algn="just"/>
            <a:r>
              <a:rPr lang="en-US" dirty="0">
                <a:latin typeface="Times New Roman" panose="02020603050405020304" pitchFamily="18" charset="0"/>
                <a:cs typeface="Times New Roman" panose="02020603050405020304" pitchFamily="18" charset="0"/>
              </a:rPr>
              <a:t>Storage: 250 GB</a:t>
            </a:r>
          </a:p>
          <a:p>
            <a:pPr algn="just"/>
            <a:r>
              <a:rPr lang="en-US" dirty="0">
                <a:latin typeface="Times New Roman" panose="02020603050405020304" pitchFamily="18" charset="0"/>
                <a:cs typeface="Times New Roman" panose="02020603050405020304" pitchFamily="18" charset="0"/>
              </a:rPr>
              <a:t>Stable broadband internet</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Software:-</a:t>
            </a: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Frontend:</a:t>
            </a:r>
            <a:r>
              <a:rPr lang="en-US" dirty="0">
                <a:latin typeface="Times New Roman" panose="02020603050405020304" pitchFamily="18" charset="0"/>
                <a:cs typeface="Times New Roman" panose="02020603050405020304" pitchFamily="18" charset="0"/>
              </a:rPr>
              <a:t> Next.js (React, App Router), </a:t>
            </a:r>
            <a:r>
              <a:rPr lang="en-US" dirty="0" err="1">
                <a:latin typeface="Times New Roman" panose="02020603050405020304" pitchFamily="18" charset="0"/>
                <a:cs typeface="Times New Roman" panose="02020603050405020304" pitchFamily="18" charset="0"/>
              </a:rPr>
              <a:t>TailwindCSS</a:t>
            </a:r>
            <a:r>
              <a:rPr lang="en-US" dirty="0">
                <a:latin typeface="Times New Roman" panose="02020603050405020304" pitchFamily="18" charset="0"/>
                <a:cs typeface="Times New Roman" panose="02020603050405020304" pitchFamily="18" charset="0"/>
              </a:rPr>
              <a:t>, Radix UI</a:t>
            </a:r>
          </a:p>
          <a:p>
            <a:pPr algn="just"/>
            <a:r>
              <a:rPr lang="en-US" b="1" dirty="0">
                <a:latin typeface="Times New Roman" panose="02020603050405020304" pitchFamily="18" charset="0"/>
                <a:cs typeface="Times New Roman" panose="02020603050405020304" pitchFamily="18" charset="0"/>
              </a:rPr>
              <a:t>Backend:</a:t>
            </a:r>
            <a:r>
              <a:rPr lang="en-US" dirty="0">
                <a:latin typeface="Times New Roman" panose="02020603050405020304" pitchFamily="18" charset="0"/>
                <a:cs typeface="Times New Roman" panose="02020603050405020304" pitchFamily="18" charset="0"/>
              </a:rPr>
              <a:t> Next.js API routes, Node.js</a:t>
            </a:r>
          </a:p>
          <a:p>
            <a:pPr algn="just"/>
            <a:r>
              <a:rPr lang="en-US" b="1" dirty="0">
                <a:latin typeface="Times New Roman" panose="02020603050405020304" pitchFamily="18" charset="0"/>
                <a:cs typeface="Times New Roman" panose="02020603050405020304" pitchFamily="18" charset="0"/>
              </a:rPr>
              <a:t>AI:</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Gemini API (Google)</a:t>
            </a: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DB:</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Neon (Postgres) + Drizzle ORM</a:t>
            </a: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Auth:</a:t>
            </a:r>
            <a:r>
              <a:rPr lang="en-US" dirty="0">
                <a:latin typeface="Times New Roman" panose="02020603050405020304" pitchFamily="18" charset="0"/>
                <a:cs typeface="Times New Roman" panose="02020603050405020304" pitchFamily="18" charset="0"/>
              </a:rPr>
              <a:t> Clerk</a:t>
            </a:r>
          </a:p>
          <a:p>
            <a:pPr algn="just"/>
            <a:r>
              <a:rPr lang="en-US" b="1" dirty="0">
                <a:latin typeface="Times New Roman" panose="02020603050405020304" pitchFamily="18" charset="0"/>
                <a:cs typeface="Times New Roman" panose="02020603050405020304" pitchFamily="18" charset="0"/>
              </a:rPr>
              <a:t>Payments:</a:t>
            </a:r>
            <a:r>
              <a:rPr lang="en-US" dirty="0">
                <a:latin typeface="Times New Roman" panose="02020603050405020304" pitchFamily="18" charset="0"/>
                <a:cs typeface="Times New Roman" panose="02020603050405020304" pitchFamily="18" charset="0"/>
              </a:rPr>
              <a:t> Stripe</a:t>
            </a:r>
          </a:p>
          <a:p>
            <a:pPr algn="just"/>
            <a:r>
              <a:rPr lang="en-US" b="1" dirty="0">
                <a:latin typeface="Times New Roman" panose="02020603050405020304" pitchFamily="18" charset="0"/>
                <a:cs typeface="Times New Roman" panose="02020603050405020304" pitchFamily="18" charset="0"/>
              </a:rPr>
              <a:t>DevOps/Deploy:</a:t>
            </a:r>
            <a:r>
              <a:rPr lang="en-US" dirty="0">
                <a:latin typeface="Times New Roman" panose="02020603050405020304" pitchFamily="18" charset="0"/>
                <a:cs typeface="Times New Roman" panose="02020603050405020304" pitchFamily="18" charset="0"/>
              </a:rPr>
              <a:t> Docker, </a:t>
            </a:r>
            <a:r>
              <a:rPr lang="en-US" dirty="0" err="1">
                <a:latin typeface="Times New Roman" panose="02020603050405020304" pitchFamily="18" charset="0"/>
                <a:cs typeface="Times New Roman" panose="02020603050405020304" pitchFamily="18" charset="0"/>
              </a:rPr>
              <a:t>Vercel</a:t>
            </a: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Dev Tools:</a:t>
            </a:r>
            <a:r>
              <a:rPr lang="en-US" dirty="0">
                <a:latin typeface="Times New Roman" panose="02020603050405020304" pitchFamily="18" charset="0"/>
                <a:cs typeface="Times New Roman" panose="02020603050405020304" pitchFamily="18" charset="0"/>
              </a:rPr>
              <a:t> VS Code, GitHub, Postman</a:t>
            </a:r>
          </a:p>
          <a:p>
            <a:pPr algn="just"/>
            <a:r>
              <a:rPr lang="en-US" b="1" dirty="0">
                <a:latin typeface="Times New Roman" panose="02020603050405020304" pitchFamily="18" charset="0"/>
                <a:cs typeface="Times New Roman" panose="02020603050405020304" pitchFamily="18" charset="0"/>
              </a:rPr>
              <a:t>Env vars (sample):</a:t>
            </a:r>
            <a:endParaRPr lang="en-US" dirty="0">
              <a:latin typeface="Times New Roman" panose="02020603050405020304" pitchFamily="18" charset="0"/>
              <a:cs typeface="Times New Roman" panose="02020603050405020304" pitchFamily="18" charset="0"/>
            </a:endParaRPr>
          </a:p>
          <a:p>
            <a:pPr lvl="1" algn="just"/>
            <a:r>
              <a:rPr lang="en-US" dirty="0">
                <a:latin typeface="Times New Roman" panose="02020603050405020304" pitchFamily="18" charset="0"/>
                <a:cs typeface="Times New Roman" panose="02020603050405020304" pitchFamily="18" charset="0"/>
              </a:rPr>
              <a:t>NEXT_PUBLIC_GEMINI_API_KEY, Clerk keys, Neon DB URL</a:t>
            </a:r>
          </a:p>
        </p:txBody>
      </p:sp>
    </p:spTree>
    <p:extLst>
      <p:ext uri="{BB962C8B-B14F-4D97-AF65-F5344CB8AC3E}">
        <p14:creationId xmlns:p14="http://schemas.microsoft.com/office/powerpoint/2010/main" val="3615211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FCA1A1C1-993B-5102-2CA2-A9623AEF92EF}"/>
            </a:ext>
          </a:extLst>
        </p:cNvPr>
        <p:cNvGrpSpPr/>
        <p:nvPr/>
      </p:nvGrpSpPr>
      <p:grpSpPr>
        <a:xfrm>
          <a:off x="0" y="0"/>
          <a:ext cx="0" cy="0"/>
          <a:chOff x="0" y="0"/>
          <a:chExt cx="0" cy="0"/>
        </a:xfrm>
      </p:grpSpPr>
      <p:sp>
        <p:nvSpPr>
          <p:cNvPr id="2" name="Google Shape;88;p5">
            <a:extLst>
              <a:ext uri="{FF2B5EF4-FFF2-40B4-BE49-F238E27FC236}">
                <a16:creationId xmlns:a16="http://schemas.microsoft.com/office/drawing/2014/main" id="{F95DB94D-66BA-CC4C-5BCF-523AA1C5EFDB}"/>
              </a:ext>
            </a:extLst>
          </p:cNvPr>
          <p:cNvSpPr txBox="1">
            <a:spLocks/>
          </p:cNvSpPr>
          <p:nvPr/>
        </p:nvSpPr>
        <p:spPr>
          <a:xfrm>
            <a:off x="3209364" y="-63132"/>
            <a:ext cx="7596027" cy="854397"/>
          </a:xfrm>
          <a:prstGeom prst="rect">
            <a:avLst/>
          </a:prstGeom>
          <a:noFill/>
          <a:ln>
            <a:noFill/>
          </a:ln>
        </p:spPr>
        <p:txBody>
          <a:bodyPr spcFirstLastPara="1" vert="horz" wrap="square" lIns="121900" tIns="121900" rIns="121900" bIns="121900"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buClr>
                <a:srgbClr val="1581AA"/>
              </a:buClr>
              <a:buSzPts val="2800"/>
            </a:pPr>
            <a:r>
              <a:rPr lang="en-US" sz="3733" b="1" dirty="0">
                <a:solidFill>
                  <a:srgbClr val="1581AA"/>
                </a:solidFill>
                <a:latin typeface="Calibri"/>
                <a:ea typeface="Calibri"/>
                <a:cs typeface="Calibri"/>
                <a:sym typeface="Calibri"/>
              </a:rPr>
              <a:t>SYSTEM DESIGN</a:t>
            </a:r>
            <a:endParaRPr lang="en-US" sz="1467" b="1" dirty="0"/>
          </a:p>
        </p:txBody>
      </p:sp>
      <p:sp>
        <p:nvSpPr>
          <p:cNvPr id="3" name="Google Shape;89;p5">
            <a:extLst>
              <a:ext uri="{FF2B5EF4-FFF2-40B4-BE49-F238E27FC236}">
                <a16:creationId xmlns:a16="http://schemas.microsoft.com/office/drawing/2014/main" id="{1EAAD1A5-C752-8329-D4F3-D1F21ED47BC2}"/>
              </a:ext>
            </a:extLst>
          </p:cNvPr>
          <p:cNvSpPr txBox="1">
            <a:spLocks noGrp="1"/>
          </p:cNvSpPr>
          <p:nvPr>
            <p:ph type="sldNum" idx="12"/>
          </p:nvPr>
        </p:nvSpPr>
        <p:spPr>
          <a:xfrm>
            <a:off x="989298" y="6493933"/>
            <a:ext cx="781051" cy="364067"/>
          </a:xfrm>
          <a:prstGeom prst="rect">
            <a:avLst/>
          </a:prstGeom>
          <a:noFill/>
          <a:ln>
            <a:noFill/>
          </a:ln>
        </p:spPr>
        <p:txBody>
          <a:bodyPr spcFirstLastPara="1" vert="horz" wrap="square" lIns="121900" tIns="60933" rIns="121900" bIns="60933" rtlCol="0" anchor="ctr" anchorCtr="0">
            <a:noAutofit/>
          </a:bodyPr>
          <a:lstStyle/>
          <a:p>
            <a:r>
              <a:rPr lang="en-US"/>
              <a:t>5</a:t>
            </a:r>
            <a:endParaRPr/>
          </a:p>
        </p:txBody>
      </p:sp>
      <p:sp>
        <p:nvSpPr>
          <p:cNvPr id="6" name="TextBox 5">
            <a:extLst>
              <a:ext uri="{FF2B5EF4-FFF2-40B4-BE49-F238E27FC236}">
                <a16:creationId xmlns:a16="http://schemas.microsoft.com/office/drawing/2014/main" id="{AC8B44E9-73F7-35D0-0F6E-20DC48512D13}"/>
              </a:ext>
            </a:extLst>
          </p:cNvPr>
          <p:cNvSpPr txBox="1"/>
          <p:nvPr/>
        </p:nvSpPr>
        <p:spPr>
          <a:xfrm>
            <a:off x="2850777" y="666060"/>
            <a:ext cx="3532094"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Flow chart Diagram</a:t>
            </a:r>
          </a:p>
        </p:txBody>
      </p:sp>
      <p:pic>
        <p:nvPicPr>
          <p:cNvPr id="10" name="Picture 9">
            <a:extLst>
              <a:ext uri="{FF2B5EF4-FFF2-40B4-BE49-F238E27FC236}">
                <a16:creationId xmlns:a16="http://schemas.microsoft.com/office/drawing/2014/main" id="{2A0522BB-58B0-4850-B836-6757018279F5}"/>
              </a:ext>
            </a:extLst>
          </p:cNvPr>
          <p:cNvPicPr>
            <a:picLocks noChangeAspect="1"/>
          </p:cNvPicPr>
          <p:nvPr/>
        </p:nvPicPr>
        <p:blipFill>
          <a:blip r:embed="rId3"/>
          <a:stretch>
            <a:fillRect/>
          </a:stretch>
        </p:blipFill>
        <p:spPr>
          <a:xfrm>
            <a:off x="5169830" y="1300425"/>
            <a:ext cx="3462339" cy="5193508"/>
          </a:xfrm>
          <a:prstGeom prst="rect">
            <a:avLst/>
          </a:prstGeom>
        </p:spPr>
      </p:pic>
    </p:spTree>
    <p:extLst>
      <p:ext uri="{BB962C8B-B14F-4D97-AF65-F5344CB8AC3E}">
        <p14:creationId xmlns:p14="http://schemas.microsoft.com/office/powerpoint/2010/main" val="3383823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Google Shape;88;p5"/>
          <p:cNvSpPr txBox="1">
            <a:spLocks/>
          </p:cNvSpPr>
          <p:nvPr/>
        </p:nvSpPr>
        <p:spPr>
          <a:xfrm>
            <a:off x="3209364" y="-63132"/>
            <a:ext cx="7596027" cy="854397"/>
          </a:xfrm>
          <a:prstGeom prst="rect">
            <a:avLst/>
          </a:prstGeom>
          <a:noFill/>
          <a:ln>
            <a:noFill/>
          </a:ln>
        </p:spPr>
        <p:txBody>
          <a:bodyPr spcFirstLastPara="1" vert="horz" wrap="square" lIns="121900" tIns="121900" rIns="121900" bIns="121900"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buClr>
                <a:srgbClr val="1581AA"/>
              </a:buClr>
              <a:buSzPts val="2800"/>
            </a:pPr>
            <a:r>
              <a:rPr lang="en-US" sz="3733" b="1" dirty="0">
                <a:solidFill>
                  <a:srgbClr val="1581AA"/>
                </a:solidFill>
                <a:latin typeface="Calibri"/>
                <a:ea typeface="Calibri"/>
                <a:cs typeface="Calibri"/>
                <a:sym typeface="Calibri"/>
              </a:rPr>
              <a:t>SYSTEM DESIGN</a:t>
            </a:r>
            <a:endParaRPr lang="en-US" sz="1467" b="1" dirty="0"/>
          </a:p>
        </p:txBody>
      </p:sp>
      <p:sp>
        <p:nvSpPr>
          <p:cNvPr id="3" name="Google Shape;89;p5"/>
          <p:cNvSpPr txBox="1">
            <a:spLocks noGrp="1"/>
          </p:cNvSpPr>
          <p:nvPr>
            <p:ph type="sldNum" idx="12"/>
          </p:nvPr>
        </p:nvSpPr>
        <p:spPr>
          <a:xfrm>
            <a:off x="989298" y="6493933"/>
            <a:ext cx="781051" cy="364067"/>
          </a:xfrm>
          <a:prstGeom prst="rect">
            <a:avLst/>
          </a:prstGeom>
          <a:noFill/>
          <a:ln>
            <a:noFill/>
          </a:ln>
        </p:spPr>
        <p:txBody>
          <a:bodyPr spcFirstLastPara="1" vert="horz" wrap="square" lIns="121900" tIns="60933" rIns="121900" bIns="60933" rtlCol="0" anchor="ctr" anchorCtr="0">
            <a:noAutofit/>
          </a:bodyPr>
          <a:lstStyle/>
          <a:p>
            <a:r>
              <a:rPr lang="en-US"/>
              <a:t>5</a:t>
            </a:r>
            <a:endParaRPr/>
          </a:p>
        </p:txBody>
      </p:sp>
      <p:pic>
        <p:nvPicPr>
          <p:cNvPr id="5" name="Picture 4">
            <a:extLst>
              <a:ext uri="{FF2B5EF4-FFF2-40B4-BE49-F238E27FC236}">
                <a16:creationId xmlns:a16="http://schemas.microsoft.com/office/drawing/2014/main" id="{26D56714-FBE1-D1F5-CD43-A0DA7A252D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7400" y="1384052"/>
            <a:ext cx="8139953" cy="4683432"/>
          </a:xfrm>
          <a:prstGeom prst="rect">
            <a:avLst/>
          </a:prstGeom>
        </p:spPr>
      </p:pic>
      <p:sp>
        <p:nvSpPr>
          <p:cNvPr id="6" name="TextBox 5">
            <a:extLst>
              <a:ext uri="{FF2B5EF4-FFF2-40B4-BE49-F238E27FC236}">
                <a16:creationId xmlns:a16="http://schemas.microsoft.com/office/drawing/2014/main" id="{9A528421-8B3F-DBF2-F195-15553D467459}"/>
              </a:ext>
            </a:extLst>
          </p:cNvPr>
          <p:cNvSpPr txBox="1"/>
          <p:nvPr/>
        </p:nvSpPr>
        <p:spPr>
          <a:xfrm>
            <a:off x="2976282" y="529655"/>
            <a:ext cx="3532094"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Data Flow diagram</a:t>
            </a:r>
          </a:p>
        </p:txBody>
      </p:sp>
    </p:spTree>
    <p:extLst>
      <p:ext uri="{BB962C8B-B14F-4D97-AF65-F5344CB8AC3E}">
        <p14:creationId xmlns:p14="http://schemas.microsoft.com/office/powerpoint/2010/main" val="3005022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Google Shape;95;p6"/>
          <p:cNvSpPr txBox="1">
            <a:spLocks/>
          </p:cNvSpPr>
          <p:nvPr/>
        </p:nvSpPr>
        <p:spPr>
          <a:xfrm>
            <a:off x="2617695" y="-80682"/>
            <a:ext cx="8468784" cy="684097"/>
          </a:xfrm>
          <a:prstGeom prst="rect">
            <a:avLst/>
          </a:prstGeom>
          <a:noFill/>
          <a:ln>
            <a:noFill/>
          </a:ln>
        </p:spPr>
        <p:txBody>
          <a:bodyPr spcFirstLastPara="1" vert="horz" wrap="square" lIns="121900" tIns="121900" rIns="121900" bIns="121900"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buClr>
                <a:srgbClr val="1581AA"/>
              </a:buClr>
              <a:buSzPts val="2800"/>
            </a:pPr>
            <a:r>
              <a:rPr lang="en-US" sz="3733" b="1">
                <a:solidFill>
                  <a:srgbClr val="1581AA"/>
                </a:solidFill>
                <a:latin typeface="Calibri"/>
                <a:ea typeface="Calibri"/>
                <a:cs typeface="Calibri"/>
                <a:sym typeface="Calibri"/>
              </a:rPr>
              <a:t>IMPLEMENTATION</a:t>
            </a:r>
            <a:endParaRPr lang="en-US" sz="3733" b="1" dirty="0">
              <a:solidFill>
                <a:srgbClr val="1581AA"/>
              </a:solidFill>
              <a:latin typeface="Calibri"/>
              <a:ea typeface="Calibri"/>
              <a:cs typeface="Calibri"/>
              <a:sym typeface="Calibri"/>
            </a:endParaRPr>
          </a:p>
        </p:txBody>
      </p:sp>
      <p:sp>
        <p:nvSpPr>
          <p:cNvPr id="3" name="Google Shape;97;p6"/>
          <p:cNvSpPr txBox="1">
            <a:spLocks noGrp="1"/>
          </p:cNvSpPr>
          <p:nvPr>
            <p:ph type="sldNum" idx="12"/>
          </p:nvPr>
        </p:nvSpPr>
        <p:spPr>
          <a:xfrm>
            <a:off x="1094805" y="6382563"/>
            <a:ext cx="781051" cy="364067"/>
          </a:xfrm>
          <a:prstGeom prst="rect">
            <a:avLst/>
          </a:prstGeom>
          <a:noFill/>
          <a:ln>
            <a:noFill/>
          </a:ln>
        </p:spPr>
        <p:txBody>
          <a:bodyPr spcFirstLastPara="1" vert="horz" wrap="square" lIns="121900" tIns="60933" rIns="121900" bIns="60933" rtlCol="0" anchor="ctr" anchorCtr="0">
            <a:noAutofit/>
          </a:bodyPr>
          <a:lstStyle/>
          <a:p>
            <a:r>
              <a:rPr lang="en-US"/>
              <a:t>6</a:t>
            </a:r>
            <a:endParaRPr/>
          </a:p>
        </p:txBody>
      </p:sp>
      <p:sp>
        <p:nvSpPr>
          <p:cNvPr id="7" name="TextBox 6">
            <a:extLst>
              <a:ext uri="{FF2B5EF4-FFF2-40B4-BE49-F238E27FC236}">
                <a16:creationId xmlns:a16="http://schemas.microsoft.com/office/drawing/2014/main" id="{6F30B0F1-8B9B-7A87-DDA0-976FCE64E6D6}"/>
              </a:ext>
            </a:extLst>
          </p:cNvPr>
          <p:cNvSpPr txBox="1"/>
          <p:nvPr/>
        </p:nvSpPr>
        <p:spPr>
          <a:xfrm>
            <a:off x="2901702" y="750252"/>
            <a:ext cx="8113059" cy="5632311"/>
          </a:xfrm>
          <a:prstGeom prst="rect">
            <a:avLst/>
          </a:prstGeom>
          <a:noFill/>
        </p:spPr>
        <p:txBody>
          <a:bodyPr wrap="square">
            <a:spAutoFit/>
          </a:bodyPr>
          <a:lstStyle/>
          <a:p>
            <a:pPr algn="just">
              <a:buNone/>
            </a:pPr>
            <a:r>
              <a:rPr lang="en-US" b="1" dirty="0">
                <a:latin typeface="Times New Roman" panose="02020603050405020304" pitchFamily="18" charset="0"/>
                <a:cs typeface="Times New Roman" panose="02020603050405020304" pitchFamily="18" charset="0"/>
              </a:rPr>
              <a:t>1. Authentication Module (Clerk)</a:t>
            </a:r>
            <a:endParaRPr lang="en-US" dirty="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Secure sign-in/sign-up; middleware guarding dashboard/interview routes</a:t>
            </a:r>
          </a:p>
          <a:p>
            <a:pPr algn="just"/>
            <a:r>
              <a:rPr lang="en-US" dirty="0">
                <a:latin typeface="Times New Roman" panose="02020603050405020304" pitchFamily="18" charset="0"/>
                <a:cs typeface="Times New Roman" panose="02020603050405020304" pitchFamily="18" charset="0"/>
              </a:rPr>
              <a:t>.</a:t>
            </a:r>
          </a:p>
          <a:p>
            <a:pPr algn="just">
              <a:buNone/>
            </a:pPr>
            <a:r>
              <a:rPr lang="en-US" b="1" dirty="0">
                <a:latin typeface="Times New Roman" panose="02020603050405020304" pitchFamily="18" charset="0"/>
                <a:cs typeface="Times New Roman" panose="02020603050405020304" pitchFamily="18" charset="0"/>
              </a:rPr>
              <a:t>2. Interview Generation (Gemini)</a:t>
            </a:r>
            <a:endParaRPr lang="en-US" dirty="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Prompt-builds by domain and difficulty; returns </a:t>
            </a:r>
            <a:r>
              <a:rPr lang="en-US" b="1" dirty="0">
                <a:latin typeface="Times New Roman" panose="02020603050405020304" pitchFamily="18" charset="0"/>
                <a:cs typeface="Times New Roman" panose="02020603050405020304" pitchFamily="18" charset="0"/>
              </a:rPr>
              <a:t>JSON-structured</a:t>
            </a:r>
            <a:r>
              <a:rPr lang="en-US" dirty="0">
                <a:latin typeface="Times New Roman" panose="02020603050405020304" pitchFamily="18" charset="0"/>
                <a:cs typeface="Times New Roman" panose="02020603050405020304" pitchFamily="18" charset="0"/>
              </a:rPr>
              <a:t> question sets.</a:t>
            </a:r>
          </a:p>
          <a:p>
            <a:pPr lvl="1"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Supports custom interviews &amp; PYQ.</a:t>
            </a:r>
          </a:p>
          <a:p>
            <a:pPr algn="just">
              <a:buNone/>
            </a:pPr>
            <a:endParaRPr lang="en-US" b="1" dirty="0">
              <a:latin typeface="Times New Roman" panose="02020603050405020304" pitchFamily="18" charset="0"/>
              <a:cs typeface="Times New Roman" panose="02020603050405020304" pitchFamily="18" charset="0"/>
            </a:endParaRPr>
          </a:p>
          <a:p>
            <a:pPr algn="just">
              <a:buNone/>
            </a:pPr>
            <a:r>
              <a:rPr lang="en-US" b="1" dirty="0">
                <a:latin typeface="Times New Roman" panose="02020603050405020304" pitchFamily="18" charset="0"/>
                <a:cs typeface="Times New Roman" panose="02020603050405020304" pitchFamily="18" charset="0"/>
              </a:rPr>
              <a:t>3. Persistence Layer (Drizzle + Neon)</a:t>
            </a:r>
            <a:endParaRPr lang="en-US" dirty="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Tables: user, </a:t>
            </a:r>
            <a:r>
              <a:rPr lang="en-US" dirty="0" err="1">
                <a:latin typeface="Times New Roman" panose="02020603050405020304" pitchFamily="18" charset="0"/>
                <a:cs typeface="Times New Roman" panose="02020603050405020304" pitchFamily="18" charset="0"/>
              </a:rPr>
              <a:t>mock_interview</a:t>
            </a:r>
            <a:r>
              <a:rPr lang="en-US" dirty="0">
                <a:latin typeface="Times New Roman" panose="02020603050405020304" pitchFamily="18" charset="0"/>
                <a:cs typeface="Times New Roman" panose="02020603050405020304" pitchFamily="18" charset="0"/>
              </a:rPr>
              <a:t>, question, </a:t>
            </a:r>
            <a:r>
              <a:rPr lang="en-US" dirty="0" err="1">
                <a:latin typeface="Times New Roman" panose="02020603050405020304" pitchFamily="18" charset="0"/>
                <a:cs typeface="Times New Roman" panose="02020603050405020304" pitchFamily="18" charset="0"/>
              </a:rPr>
              <a:t>user_answer</a:t>
            </a:r>
            <a:r>
              <a:rPr lang="en-US" dirty="0">
                <a:latin typeface="Times New Roman" panose="02020603050405020304" pitchFamily="18" charset="0"/>
                <a:cs typeface="Times New Roman" panose="02020603050405020304" pitchFamily="18" charset="0"/>
              </a:rPr>
              <a:t>, newsletter </a:t>
            </a:r>
          </a:p>
          <a:p>
            <a:pPr lvl="1" algn="just">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Typesafe</a:t>
            </a:r>
            <a:r>
              <a:rPr lang="en-US" dirty="0">
                <a:latin typeface="Times New Roman" panose="02020603050405020304" pitchFamily="18" charset="0"/>
                <a:cs typeface="Times New Roman" panose="02020603050405020304" pitchFamily="18" charset="0"/>
              </a:rPr>
              <a:t> queries &amp; migrations via Drizzle.</a:t>
            </a:r>
          </a:p>
          <a:p>
            <a:pPr algn="just">
              <a:buNone/>
            </a:pPr>
            <a:endParaRPr lang="en-US" b="1" dirty="0">
              <a:latin typeface="Times New Roman" panose="02020603050405020304" pitchFamily="18" charset="0"/>
              <a:cs typeface="Times New Roman" panose="02020603050405020304" pitchFamily="18" charset="0"/>
            </a:endParaRPr>
          </a:p>
          <a:p>
            <a:pPr algn="just">
              <a:buNone/>
            </a:pPr>
            <a:r>
              <a:rPr lang="en-US" b="1" dirty="0">
                <a:latin typeface="Times New Roman" panose="02020603050405020304" pitchFamily="18" charset="0"/>
                <a:cs typeface="Times New Roman" panose="02020603050405020304" pitchFamily="18" charset="0"/>
              </a:rPr>
              <a:t>4. Dashboard &amp; Analytics</a:t>
            </a:r>
            <a:endParaRPr lang="en-US" dirty="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Progress charts, interview history, per-skill breakdown, retry flow.</a:t>
            </a:r>
          </a:p>
          <a:p>
            <a:pPr algn="just">
              <a:buNone/>
            </a:pPr>
            <a:endParaRPr lang="en-US" b="1" dirty="0">
              <a:latin typeface="Times New Roman" panose="02020603050405020304" pitchFamily="18" charset="0"/>
              <a:cs typeface="Times New Roman" panose="02020603050405020304" pitchFamily="18" charset="0"/>
            </a:endParaRPr>
          </a:p>
          <a:p>
            <a:pPr algn="just">
              <a:buNone/>
            </a:pPr>
            <a:r>
              <a:rPr lang="en-US" b="1" dirty="0">
                <a:latin typeface="Times New Roman" panose="02020603050405020304" pitchFamily="18" charset="0"/>
                <a:cs typeface="Times New Roman" panose="02020603050405020304" pitchFamily="18" charset="0"/>
              </a:rPr>
              <a:t>5. Payments (Stripe)</a:t>
            </a:r>
            <a:endParaRPr lang="en-US" dirty="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Test checkout &amp; plan gating (upgrade page). </a:t>
            </a:r>
          </a:p>
          <a:p>
            <a:pPr algn="just">
              <a:buNone/>
            </a:pPr>
            <a:endParaRPr lang="en-US" b="1" dirty="0">
              <a:latin typeface="Times New Roman" panose="02020603050405020304" pitchFamily="18" charset="0"/>
              <a:cs typeface="Times New Roman" panose="02020603050405020304" pitchFamily="18" charset="0"/>
            </a:endParaRPr>
          </a:p>
          <a:p>
            <a:pPr algn="just">
              <a:buNone/>
            </a:pPr>
            <a:r>
              <a:rPr lang="en-US" b="1" dirty="0">
                <a:latin typeface="Times New Roman" panose="02020603050405020304" pitchFamily="18" charset="0"/>
                <a:cs typeface="Times New Roman" panose="02020603050405020304" pitchFamily="18" charset="0"/>
              </a:rPr>
              <a:t>6. Packaging &amp; Deployment</a:t>
            </a:r>
            <a:endParaRPr lang="en-US" dirty="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Dockerfile</a:t>
            </a:r>
            <a:r>
              <a:rPr lang="en-US" dirty="0">
                <a:latin typeface="Times New Roman" panose="02020603050405020304" pitchFamily="18" charset="0"/>
                <a:cs typeface="Times New Roman" panose="02020603050405020304" pitchFamily="18" charset="0"/>
              </a:rPr>
              <a:t> + compose; deploy on </a:t>
            </a:r>
            <a:r>
              <a:rPr lang="en-US" dirty="0" err="1">
                <a:latin typeface="Times New Roman" panose="02020603050405020304" pitchFamily="18" charset="0"/>
                <a:cs typeface="Times New Roman" panose="02020603050405020304" pitchFamily="18" charset="0"/>
              </a:rPr>
              <a:t>Vercel</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26005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Rectangle 1"/>
          <p:cNvSpPr/>
          <p:nvPr/>
        </p:nvSpPr>
        <p:spPr>
          <a:xfrm>
            <a:off x="4634204" y="226860"/>
            <a:ext cx="2923592" cy="502766"/>
          </a:xfrm>
          <a:prstGeom prst="rect">
            <a:avLst/>
          </a:prstGeom>
        </p:spPr>
        <p:txBody>
          <a:bodyPr wrap="square">
            <a:spAutoFit/>
          </a:bodyPr>
          <a:lstStyle/>
          <a:p>
            <a:pPr lvl="0" algn="ctr">
              <a:buClr>
                <a:srgbClr val="1581AA"/>
              </a:buClr>
              <a:buSzPts val="2800"/>
            </a:pPr>
            <a:r>
              <a:rPr lang="en-US" sz="2667" b="1" dirty="0">
                <a:solidFill>
                  <a:srgbClr val="1581AA"/>
                </a:solidFill>
                <a:latin typeface="Calibri"/>
                <a:ea typeface="Calibri"/>
                <a:cs typeface="Calibri"/>
                <a:sym typeface="Calibri"/>
              </a:rPr>
              <a:t>TESTING</a:t>
            </a:r>
          </a:p>
        </p:txBody>
      </p:sp>
      <p:pic>
        <p:nvPicPr>
          <p:cNvPr id="7" name="Picture 6">
            <a:extLst>
              <a:ext uri="{FF2B5EF4-FFF2-40B4-BE49-F238E27FC236}">
                <a16:creationId xmlns:a16="http://schemas.microsoft.com/office/drawing/2014/main" id="{F27D9174-AA88-82A4-A5E0-11A321D0771E}"/>
              </a:ext>
            </a:extLst>
          </p:cNvPr>
          <p:cNvPicPr>
            <a:picLocks noChangeAspect="1"/>
          </p:cNvPicPr>
          <p:nvPr/>
        </p:nvPicPr>
        <p:blipFill>
          <a:blip r:embed="rId3"/>
          <a:stretch>
            <a:fillRect/>
          </a:stretch>
        </p:blipFill>
        <p:spPr>
          <a:xfrm>
            <a:off x="2587283" y="1413932"/>
            <a:ext cx="8726175" cy="4030135"/>
          </a:xfrm>
          <a:prstGeom prst="rect">
            <a:avLst/>
          </a:prstGeom>
        </p:spPr>
      </p:pic>
    </p:spTree>
    <p:extLst>
      <p:ext uri="{BB962C8B-B14F-4D97-AF65-F5344CB8AC3E}">
        <p14:creationId xmlns:p14="http://schemas.microsoft.com/office/powerpoint/2010/main" val="3289289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52942DCB-166E-34DA-68B7-5064430BC1B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64E63E6-BC52-9395-0AC0-7ABC143029AE}"/>
              </a:ext>
            </a:extLst>
          </p:cNvPr>
          <p:cNvSpPr/>
          <p:nvPr/>
        </p:nvSpPr>
        <p:spPr>
          <a:xfrm>
            <a:off x="4634204" y="226860"/>
            <a:ext cx="2923592" cy="502766"/>
          </a:xfrm>
          <a:prstGeom prst="rect">
            <a:avLst/>
          </a:prstGeom>
        </p:spPr>
        <p:txBody>
          <a:bodyPr wrap="square">
            <a:spAutoFit/>
          </a:bodyPr>
          <a:lstStyle/>
          <a:p>
            <a:pPr lvl="0" algn="ctr">
              <a:buClr>
                <a:srgbClr val="1581AA"/>
              </a:buClr>
              <a:buSzPts val="2800"/>
            </a:pPr>
            <a:r>
              <a:rPr lang="en-US" sz="2667" b="1" dirty="0">
                <a:solidFill>
                  <a:srgbClr val="1581AA"/>
                </a:solidFill>
                <a:latin typeface="Calibri"/>
                <a:ea typeface="Calibri"/>
                <a:cs typeface="Calibri"/>
                <a:sym typeface="Calibri"/>
              </a:rPr>
              <a:t>TESTING</a:t>
            </a:r>
          </a:p>
        </p:txBody>
      </p:sp>
      <p:pic>
        <p:nvPicPr>
          <p:cNvPr id="4" name="Picture 3">
            <a:extLst>
              <a:ext uri="{FF2B5EF4-FFF2-40B4-BE49-F238E27FC236}">
                <a16:creationId xmlns:a16="http://schemas.microsoft.com/office/drawing/2014/main" id="{48E52E98-9C24-F0C3-CEDE-00A642162859}"/>
              </a:ext>
            </a:extLst>
          </p:cNvPr>
          <p:cNvPicPr>
            <a:picLocks noChangeAspect="1"/>
          </p:cNvPicPr>
          <p:nvPr/>
        </p:nvPicPr>
        <p:blipFill>
          <a:blip r:embed="rId3"/>
          <a:stretch>
            <a:fillRect/>
          </a:stretch>
        </p:blipFill>
        <p:spPr>
          <a:xfrm>
            <a:off x="2567084" y="1220378"/>
            <a:ext cx="8555508" cy="4185339"/>
          </a:xfrm>
          <a:prstGeom prst="rect">
            <a:avLst/>
          </a:prstGeom>
        </p:spPr>
      </p:pic>
    </p:spTree>
    <p:extLst>
      <p:ext uri="{BB962C8B-B14F-4D97-AF65-F5344CB8AC3E}">
        <p14:creationId xmlns:p14="http://schemas.microsoft.com/office/powerpoint/2010/main" val="3603184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4DB9576F-E1F1-23D3-3D9D-3DAC757CF53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8C272B8-85C4-B0EE-C21D-936692054D99}"/>
              </a:ext>
            </a:extLst>
          </p:cNvPr>
          <p:cNvSpPr/>
          <p:nvPr/>
        </p:nvSpPr>
        <p:spPr>
          <a:xfrm>
            <a:off x="4634204" y="226860"/>
            <a:ext cx="2923592" cy="502766"/>
          </a:xfrm>
          <a:prstGeom prst="rect">
            <a:avLst/>
          </a:prstGeom>
        </p:spPr>
        <p:txBody>
          <a:bodyPr wrap="square">
            <a:spAutoFit/>
          </a:bodyPr>
          <a:lstStyle/>
          <a:p>
            <a:pPr lvl="0" algn="ctr">
              <a:buClr>
                <a:srgbClr val="1581AA"/>
              </a:buClr>
              <a:buSzPts val="2800"/>
            </a:pPr>
            <a:r>
              <a:rPr lang="en-US" sz="2667" b="1" dirty="0">
                <a:solidFill>
                  <a:srgbClr val="1581AA"/>
                </a:solidFill>
                <a:latin typeface="Calibri"/>
                <a:ea typeface="Calibri"/>
                <a:cs typeface="Calibri"/>
                <a:sym typeface="Calibri"/>
              </a:rPr>
              <a:t>TESTING</a:t>
            </a:r>
          </a:p>
        </p:txBody>
      </p:sp>
      <p:pic>
        <p:nvPicPr>
          <p:cNvPr id="5" name="Picture 4">
            <a:extLst>
              <a:ext uri="{FF2B5EF4-FFF2-40B4-BE49-F238E27FC236}">
                <a16:creationId xmlns:a16="http://schemas.microsoft.com/office/drawing/2014/main" id="{427BA514-BF9A-F3FB-C42D-EEFFA0E291C7}"/>
              </a:ext>
            </a:extLst>
          </p:cNvPr>
          <p:cNvPicPr>
            <a:picLocks noChangeAspect="1"/>
          </p:cNvPicPr>
          <p:nvPr/>
        </p:nvPicPr>
        <p:blipFill>
          <a:blip r:embed="rId3"/>
          <a:stretch>
            <a:fillRect/>
          </a:stretch>
        </p:blipFill>
        <p:spPr>
          <a:xfrm>
            <a:off x="2484158" y="1317069"/>
            <a:ext cx="8623112" cy="3926540"/>
          </a:xfrm>
          <a:prstGeom prst="rect">
            <a:avLst/>
          </a:prstGeom>
        </p:spPr>
      </p:pic>
    </p:spTree>
    <p:extLst>
      <p:ext uri="{BB962C8B-B14F-4D97-AF65-F5344CB8AC3E}">
        <p14:creationId xmlns:p14="http://schemas.microsoft.com/office/powerpoint/2010/main" val="35905267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Rectangle 1"/>
          <p:cNvSpPr/>
          <p:nvPr/>
        </p:nvSpPr>
        <p:spPr>
          <a:xfrm>
            <a:off x="5111163" y="164107"/>
            <a:ext cx="2923592" cy="584775"/>
          </a:xfrm>
          <a:prstGeom prst="rect">
            <a:avLst/>
          </a:prstGeom>
        </p:spPr>
        <p:txBody>
          <a:bodyPr wrap="square">
            <a:spAutoFit/>
          </a:bodyPr>
          <a:lstStyle/>
          <a:p>
            <a:pPr lvl="0" algn="ctr">
              <a:buClr>
                <a:srgbClr val="1581AA"/>
              </a:buClr>
              <a:buSzPts val="2800"/>
            </a:pPr>
            <a:r>
              <a:rPr lang="en-US" sz="3200" b="1" dirty="0">
                <a:solidFill>
                  <a:srgbClr val="1581AA"/>
                </a:solidFill>
                <a:latin typeface="Calibri"/>
                <a:ea typeface="Calibri"/>
                <a:cs typeface="Calibri"/>
                <a:sym typeface="Calibri"/>
              </a:rPr>
              <a:t>RESULTS</a:t>
            </a:r>
          </a:p>
        </p:txBody>
      </p:sp>
      <p:pic>
        <p:nvPicPr>
          <p:cNvPr id="5" name="Picture 4">
            <a:extLst>
              <a:ext uri="{FF2B5EF4-FFF2-40B4-BE49-F238E27FC236}">
                <a16:creationId xmlns:a16="http://schemas.microsoft.com/office/drawing/2014/main" id="{778D6CCD-3B85-A533-B880-1C4035450F68}"/>
              </a:ext>
            </a:extLst>
          </p:cNvPr>
          <p:cNvPicPr>
            <a:picLocks noChangeAspect="1"/>
          </p:cNvPicPr>
          <p:nvPr/>
        </p:nvPicPr>
        <p:blipFill>
          <a:blip r:embed="rId3"/>
          <a:stretch>
            <a:fillRect/>
          </a:stretch>
        </p:blipFill>
        <p:spPr>
          <a:xfrm>
            <a:off x="2485770" y="1230570"/>
            <a:ext cx="9112686" cy="4396859"/>
          </a:xfrm>
          <a:prstGeom prst="rect">
            <a:avLst/>
          </a:prstGeom>
        </p:spPr>
      </p:pic>
    </p:spTree>
    <p:extLst>
      <p:ext uri="{BB962C8B-B14F-4D97-AF65-F5344CB8AC3E}">
        <p14:creationId xmlns:p14="http://schemas.microsoft.com/office/powerpoint/2010/main" val="12788516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CD5167FC-481C-8E16-DBF8-598AEC0E8F2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3B4CA6C-E526-4A3D-8CE5-8A26EFCF3C6A}"/>
              </a:ext>
            </a:extLst>
          </p:cNvPr>
          <p:cNvSpPr/>
          <p:nvPr/>
        </p:nvSpPr>
        <p:spPr>
          <a:xfrm>
            <a:off x="5111163" y="164107"/>
            <a:ext cx="2923592" cy="584775"/>
          </a:xfrm>
          <a:prstGeom prst="rect">
            <a:avLst/>
          </a:prstGeom>
        </p:spPr>
        <p:txBody>
          <a:bodyPr wrap="square">
            <a:spAutoFit/>
          </a:bodyPr>
          <a:lstStyle/>
          <a:p>
            <a:pPr lvl="0" algn="ctr">
              <a:buClr>
                <a:srgbClr val="1581AA"/>
              </a:buClr>
              <a:buSzPts val="2800"/>
            </a:pPr>
            <a:r>
              <a:rPr lang="en-US" sz="3200" b="1" dirty="0">
                <a:solidFill>
                  <a:srgbClr val="1581AA"/>
                </a:solidFill>
                <a:latin typeface="Calibri"/>
                <a:ea typeface="Calibri"/>
                <a:cs typeface="Calibri"/>
                <a:sym typeface="Calibri"/>
              </a:rPr>
              <a:t>RESULTS</a:t>
            </a:r>
          </a:p>
        </p:txBody>
      </p:sp>
      <p:pic>
        <p:nvPicPr>
          <p:cNvPr id="4" name="Picture 3">
            <a:extLst>
              <a:ext uri="{FF2B5EF4-FFF2-40B4-BE49-F238E27FC236}">
                <a16:creationId xmlns:a16="http://schemas.microsoft.com/office/drawing/2014/main" id="{8FBFBBD3-AB33-DC71-626F-1412FBBE540B}"/>
              </a:ext>
            </a:extLst>
          </p:cNvPr>
          <p:cNvPicPr>
            <a:picLocks noChangeAspect="1"/>
          </p:cNvPicPr>
          <p:nvPr/>
        </p:nvPicPr>
        <p:blipFill>
          <a:blip r:embed="rId3"/>
          <a:stretch>
            <a:fillRect/>
          </a:stretch>
        </p:blipFill>
        <p:spPr>
          <a:xfrm>
            <a:off x="3605583" y="748882"/>
            <a:ext cx="5662151" cy="5662151"/>
          </a:xfrm>
          <a:prstGeom prst="rect">
            <a:avLst/>
          </a:prstGeom>
        </p:spPr>
      </p:pic>
    </p:spTree>
    <p:extLst>
      <p:ext uri="{BB962C8B-B14F-4D97-AF65-F5344CB8AC3E}">
        <p14:creationId xmlns:p14="http://schemas.microsoft.com/office/powerpoint/2010/main" val="23627746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27800D2C-795A-FDF8-A21F-464A22EF2CD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04760D4-99B9-27EF-B063-E6A7CAB33A00}"/>
              </a:ext>
            </a:extLst>
          </p:cNvPr>
          <p:cNvSpPr/>
          <p:nvPr/>
        </p:nvSpPr>
        <p:spPr>
          <a:xfrm>
            <a:off x="5111163" y="164107"/>
            <a:ext cx="2923592" cy="584775"/>
          </a:xfrm>
          <a:prstGeom prst="rect">
            <a:avLst/>
          </a:prstGeom>
        </p:spPr>
        <p:txBody>
          <a:bodyPr wrap="square">
            <a:spAutoFit/>
          </a:bodyPr>
          <a:lstStyle/>
          <a:p>
            <a:pPr lvl="0" algn="ctr">
              <a:buClr>
                <a:srgbClr val="1581AA"/>
              </a:buClr>
              <a:buSzPts val="2800"/>
            </a:pPr>
            <a:r>
              <a:rPr lang="en-US" sz="3200" b="1" dirty="0">
                <a:solidFill>
                  <a:srgbClr val="1581AA"/>
                </a:solidFill>
                <a:latin typeface="Calibri"/>
                <a:ea typeface="Calibri"/>
                <a:cs typeface="Calibri"/>
                <a:sym typeface="Calibri"/>
              </a:rPr>
              <a:t>RESULTS</a:t>
            </a:r>
          </a:p>
        </p:txBody>
      </p:sp>
      <p:pic>
        <p:nvPicPr>
          <p:cNvPr id="5" name="Picture 4">
            <a:extLst>
              <a:ext uri="{FF2B5EF4-FFF2-40B4-BE49-F238E27FC236}">
                <a16:creationId xmlns:a16="http://schemas.microsoft.com/office/drawing/2014/main" id="{62EE1B9A-112C-63BA-54D6-A93EACBCEE1F}"/>
              </a:ext>
            </a:extLst>
          </p:cNvPr>
          <p:cNvPicPr>
            <a:picLocks noChangeAspect="1"/>
          </p:cNvPicPr>
          <p:nvPr/>
        </p:nvPicPr>
        <p:blipFill>
          <a:blip r:embed="rId3"/>
          <a:stretch>
            <a:fillRect/>
          </a:stretch>
        </p:blipFill>
        <p:spPr>
          <a:xfrm>
            <a:off x="2484643" y="1290917"/>
            <a:ext cx="8999145" cy="4126626"/>
          </a:xfrm>
          <a:prstGeom prst="rect">
            <a:avLst/>
          </a:prstGeom>
        </p:spPr>
      </p:pic>
    </p:spTree>
    <p:extLst>
      <p:ext uri="{BB962C8B-B14F-4D97-AF65-F5344CB8AC3E}">
        <p14:creationId xmlns:p14="http://schemas.microsoft.com/office/powerpoint/2010/main" val="338920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FC1B8F47-1119-253B-DFC9-4448FC0F3F5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8F11059-599D-9653-815C-70318AC547EC}"/>
              </a:ext>
            </a:extLst>
          </p:cNvPr>
          <p:cNvSpPr/>
          <p:nvPr/>
        </p:nvSpPr>
        <p:spPr>
          <a:xfrm>
            <a:off x="5111163" y="164107"/>
            <a:ext cx="2923592" cy="584775"/>
          </a:xfrm>
          <a:prstGeom prst="rect">
            <a:avLst/>
          </a:prstGeom>
        </p:spPr>
        <p:txBody>
          <a:bodyPr wrap="square">
            <a:spAutoFit/>
          </a:bodyPr>
          <a:lstStyle/>
          <a:p>
            <a:pPr lvl="0" algn="ctr">
              <a:buClr>
                <a:srgbClr val="1581AA"/>
              </a:buClr>
              <a:buSzPts val="2800"/>
            </a:pPr>
            <a:r>
              <a:rPr lang="en-US" sz="3200" b="1" dirty="0">
                <a:solidFill>
                  <a:srgbClr val="1581AA"/>
                </a:solidFill>
                <a:latin typeface="Calibri"/>
                <a:ea typeface="Calibri"/>
                <a:cs typeface="Calibri"/>
                <a:sym typeface="Calibri"/>
              </a:rPr>
              <a:t>RESULTS</a:t>
            </a:r>
          </a:p>
        </p:txBody>
      </p:sp>
      <p:pic>
        <p:nvPicPr>
          <p:cNvPr id="5" name="Picture 4">
            <a:extLst>
              <a:ext uri="{FF2B5EF4-FFF2-40B4-BE49-F238E27FC236}">
                <a16:creationId xmlns:a16="http://schemas.microsoft.com/office/drawing/2014/main" id="{F54B0AEB-0427-2FE1-B97B-1CDA721BBCC0}"/>
              </a:ext>
            </a:extLst>
          </p:cNvPr>
          <p:cNvPicPr>
            <a:picLocks noChangeAspect="1"/>
          </p:cNvPicPr>
          <p:nvPr/>
        </p:nvPicPr>
        <p:blipFill>
          <a:blip r:embed="rId3"/>
          <a:stretch>
            <a:fillRect/>
          </a:stretch>
        </p:blipFill>
        <p:spPr>
          <a:xfrm>
            <a:off x="2756203" y="1159789"/>
            <a:ext cx="8712402" cy="4538421"/>
          </a:xfrm>
          <a:prstGeom prst="rect">
            <a:avLst/>
          </a:prstGeom>
        </p:spPr>
      </p:pic>
    </p:spTree>
    <p:extLst>
      <p:ext uri="{BB962C8B-B14F-4D97-AF65-F5344CB8AC3E}">
        <p14:creationId xmlns:p14="http://schemas.microsoft.com/office/powerpoint/2010/main" val="22621906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C43FC61E-9081-ED26-2E61-E2380717B05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61D3D6D-614A-DDF8-1F9A-CD481C944DE2}"/>
              </a:ext>
            </a:extLst>
          </p:cNvPr>
          <p:cNvSpPr/>
          <p:nvPr/>
        </p:nvSpPr>
        <p:spPr>
          <a:xfrm>
            <a:off x="5111163" y="164107"/>
            <a:ext cx="2923592" cy="584775"/>
          </a:xfrm>
          <a:prstGeom prst="rect">
            <a:avLst/>
          </a:prstGeom>
        </p:spPr>
        <p:txBody>
          <a:bodyPr wrap="square">
            <a:spAutoFit/>
          </a:bodyPr>
          <a:lstStyle/>
          <a:p>
            <a:pPr lvl="0" algn="ctr">
              <a:buClr>
                <a:srgbClr val="1581AA"/>
              </a:buClr>
              <a:buSzPts val="2800"/>
            </a:pPr>
            <a:r>
              <a:rPr lang="en-US" sz="3200" b="1" dirty="0">
                <a:solidFill>
                  <a:srgbClr val="1581AA"/>
                </a:solidFill>
                <a:latin typeface="Calibri"/>
                <a:ea typeface="Calibri"/>
                <a:cs typeface="Calibri"/>
                <a:sym typeface="Calibri"/>
              </a:rPr>
              <a:t>RESULTS</a:t>
            </a:r>
          </a:p>
        </p:txBody>
      </p:sp>
      <p:pic>
        <p:nvPicPr>
          <p:cNvPr id="5" name="Picture 4">
            <a:extLst>
              <a:ext uri="{FF2B5EF4-FFF2-40B4-BE49-F238E27FC236}">
                <a16:creationId xmlns:a16="http://schemas.microsoft.com/office/drawing/2014/main" id="{4C33F124-754E-18CB-6A5C-1EED38B40ED1}"/>
              </a:ext>
            </a:extLst>
          </p:cNvPr>
          <p:cNvPicPr>
            <a:picLocks noChangeAspect="1"/>
          </p:cNvPicPr>
          <p:nvPr/>
        </p:nvPicPr>
        <p:blipFill>
          <a:blip r:embed="rId3"/>
          <a:stretch>
            <a:fillRect/>
          </a:stretch>
        </p:blipFill>
        <p:spPr>
          <a:xfrm>
            <a:off x="2668646" y="1121727"/>
            <a:ext cx="8558002" cy="4740051"/>
          </a:xfrm>
          <a:prstGeom prst="rect">
            <a:avLst/>
          </a:prstGeom>
        </p:spPr>
      </p:pic>
    </p:spTree>
    <p:extLst>
      <p:ext uri="{BB962C8B-B14F-4D97-AF65-F5344CB8AC3E}">
        <p14:creationId xmlns:p14="http://schemas.microsoft.com/office/powerpoint/2010/main" val="21790245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8D546BA-32F1-10DD-D444-3B888F5F9036}"/>
              </a:ext>
            </a:extLst>
          </p:cNvPr>
          <p:cNvSpPr/>
          <p:nvPr/>
        </p:nvSpPr>
        <p:spPr>
          <a:xfrm>
            <a:off x="2472579" y="208931"/>
            <a:ext cx="7858125" cy="584775"/>
          </a:xfrm>
          <a:prstGeom prst="rect">
            <a:avLst/>
          </a:prstGeom>
        </p:spPr>
        <p:txBody>
          <a:bodyPr wrap="square">
            <a:spAutoFit/>
          </a:bodyPr>
          <a:lstStyle/>
          <a:p>
            <a:pPr algn="ctr" defTabSz="1219170">
              <a:buClr>
                <a:srgbClr val="1581AA"/>
              </a:buClr>
              <a:buSzPts val="2800"/>
              <a:defRPr/>
            </a:pPr>
            <a:r>
              <a:rPr lang="en-US" sz="3200" b="1" kern="0" dirty="0">
                <a:solidFill>
                  <a:srgbClr val="1581AA"/>
                </a:solidFill>
                <a:latin typeface="Calibri"/>
                <a:ea typeface="Calibri"/>
                <a:cs typeface="Calibri"/>
                <a:sym typeface="Calibri"/>
              </a:rPr>
              <a:t>FUTURE ENHANCEMENTS</a:t>
            </a:r>
          </a:p>
        </p:txBody>
      </p:sp>
      <p:sp>
        <p:nvSpPr>
          <p:cNvPr id="7" name="Rectangle 3">
            <a:extLst>
              <a:ext uri="{FF2B5EF4-FFF2-40B4-BE49-F238E27FC236}">
                <a16:creationId xmlns:a16="http://schemas.microsoft.com/office/drawing/2014/main" id="{F68A2995-E241-C54F-345A-EFFFE60A1C8E}"/>
              </a:ext>
            </a:extLst>
          </p:cNvPr>
          <p:cNvSpPr>
            <a:spLocks noChangeArrowheads="1"/>
          </p:cNvSpPr>
          <p:nvPr/>
        </p:nvSpPr>
        <p:spPr bwMode="auto">
          <a:xfrm>
            <a:off x="2734236" y="1515107"/>
            <a:ext cx="8456162"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Voice-first interviews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on-device STT/TTS and timed answers.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Company/role-specific rubrics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question banks.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Multi-lingual interviews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(regional languages).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Proctoring features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(anti-tab-switch, webcam monitoring).</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analytics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(per-competency radar, longitudinal skill growth).</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Admin authoring studio</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custom prompts and curated PYQ sets.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 app</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(React Native) with offline progress.</a:t>
            </a:r>
          </a:p>
        </p:txBody>
      </p:sp>
    </p:spTree>
    <p:extLst>
      <p:ext uri="{BB962C8B-B14F-4D97-AF65-F5344CB8AC3E}">
        <p14:creationId xmlns:p14="http://schemas.microsoft.com/office/powerpoint/2010/main" val="14691787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EA1A492-DC90-E017-4A7D-4FC71B18C8F2}"/>
              </a:ext>
            </a:extLst>
          </p:cNvPr>
          <p:cNvSpPr/>
          <p:nvPr/>
        </p:nvSpPr>
        <p:spPr>
          <a:xfrm>
            <a:off x="1800226" y="629706"/>
            <a:ext cx="7858125" cy="584775"/>
          </a:xfrm>
          <a:prstGeom prst="rect">
            <a:avLst/>
          </a:prstGeom>
        </p:spPr>
        <p:txBody>
          <a:bodyPr wrap="square">
            <a:spAutoFit/>
          </a:bodyPr>
          <a:lstStyle/>
          <a:p>
            <a:pPr lvl="0" algn="ctr">
              <a:buClr>
                <a:srgbClr val="1581AA"/>
              </a:buClr>
              <a:buSzPts val="2800"/>
            </a:pPr>
            <a:r>
              <a:rPr lang="en-US" sz="3200" b="1" dirty="0">
                <a:solidFill>
                  <a:srgbClr val="1581AA"/>
                </a:solidFill>
                <a:latin typeface="Calibri"/>
                <a:ea typeface="Calibri"/>
                <a:cs typeface="Calibri"/>
                <a:sym typeface="Calibri"/>
              </a:rPr>
              <a:t>CONCLUSION</a:t>
            </a:r>
          </a:p>
        </p:txBody>
      </p:sp>
      <p:sp>
        <p:nvSpPr>
          <p:cNvPr id="2" name="TextBox 1">
            <a:extLst>
              <a:ext uri="{FF2B5EF4-FFF2-40B4-BE49-F238E27FC236}">
                <a16:creationId xmlns:a16="http://schemas.microsoft.com/office/drawing/2014/main" id="{E7983858-A503-3B05-8E00-43399F75BC20}"/>
              </a:ext>
            </a:extLst>
          </p:cNvPr>
          <p:cNvSpPr txBox="1"/>
          <p:nvPr/>
        </p:nvSpPr>
        <p:spPr>
          <a:xfrm>
            <a:off x="2788024" y="1739153"/>
            <a:ext cx="7951694" cy="3693319"/>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AI mock interview</a:t>
            </a:r>
            <a:r>
              <a:rPr lang="en-US" dirty="0">
                <a:latin typeface="Times New Roman" panose="02020603050405020304" pitchFamily="18" charset="0"/>
                <a:cs typeface="Times New Roman" panose="02020603050405020304" pitchFamily="18" charset="0"/>
              </a:rPr>
              <a:t> project demonstrates the power of Gemini-driven interview simulations, offering scalable, personalized preparation that includes structured feedback and measurable progress. By leveraging cutting-edge technologies like </a:t>
            </a:r>
            <a:r>
              <a:rPr lang="en-US" b="1" dirty="0">
                <a:latin typeface="Times New Roman" panose="02020603050405020304" pitchFamily="18" charset="0"/>
                <a:cs typeface="Times New Roman" panose="02020603050405020304" pitchFamily="18" charset="0"/>
              </a:rPr>
              <a:t>Next.js</a:t>
            </a:r>
            <a:r>
              <a:rPr lang="en-US" dirty="0">
                <a:latin typeface="Times New Roman" panose="02020603050405020304" pitchFamily="18" charset="0"/>
                <a:cs typeface="Times New Roman" panose="02020603050405020304" pitchFamily="18" charset="0"/>
              </a:rPr>
              <a:t> for seamless front-end development, </a:t>
            </a:r>
            <a:r>
              <a:rPr lang="en-US" b="1" dirty="0">
                <a:latin typeface="Times New Roman" panose="02020603050405020304" pitchFamily="18" charset="0"/>
                <a:cs typeface="Times New Roman" panose="02020603050405020304" pitchFamily="18" charset="0"/>
              </a:rPr>
              <a:t>Clerk</a:t>
            </a:r>
            <a:r>
              <a:rPr lang="en-US" dirty="0">
                <a:latin typeface="Times New Roman" panose="02020603050405020304" pitchFamily="18" charset="0"/>
                <a:cs typeface="Times New Roman" panose="02020603050405020304" pitchFamily="18" charset="0"/>
              </a:rPr>
              <a:t> for secure authentication, </a:t>
            </a:r>
            <a:r>
              <a:rPr lang="en-US" b="1" dirty="0">
                <a:latin typeface="Times New Roman" panose="02020603050405020304" pitchFamily="18" charset="0"/>
                <a:cs typeface="Times New Roman" panose="02020603050405020304" pitchFamily="18" charset="0"/>
              </a:rPr>
              <a:t>Drizzle ORM</a:t>
            </a:r>
            <a:r>
              <a:rPr lang="en-US" dirty="0">
                <a:latin typeface="Times New Roman" panose="02020603050405020304" pitchFamily="18" charset="0"/>
                <a:cs typeface="Times New Roman" panose="02020603050405020304" pitchFamily="18" charset="0"/>
              </a:rPr>
              <a:t> with </a:t>
            </a:r>
            <a:r>
              <a:rPr lang="en-US" b="1" dirty="0" err="1">
                <a:latin typeface="Times New Roman" panose="02020603050405020304" pitchFamily="18" charset="0"/>
                <a:cs typeface="Times New Roman" panose="02020603050405020304" pitchFamily="18" charset="0"/>
              </a:rPr>
              <a:t>NeonDB</a:t>
            </a:r>
            <a:r>
              <a:rPr lang="en-US" dirty="0">
                <a:latin typeface="Times New Roman" panose="02020603050405020304" pitchFamily="18" charset="0"/>
                <a:cs typeface="Times New Roman" panose="02020603050405020304" pitchFamily="18" charset="0"/>
              </a:rPr>
              <a:t> for efficient data management, and </a:t>
            </a:r>
            <a:r>
              <a:rPr lang="en-US" b="1" dirty="0">
                <a:latin typeface="Times New Roman" panose="02020603050405020304" pitchFamily="18" charset="0"/>
                <a:cs typeface="Times New Roman" panose="02020603050405020304" pitchFamily="18" charset="0"/>
              </a:rPr>
              <a:t>Stripe</a:t>
            </a:r>
            <a:r>
              <a:rPr lang="en-US" dirty="0">
                <a:latin typeface="Times New Roman" panose="02020603050405020304" pitchFamily="18" charset="0"/>
                <a:cs typeface="Times New Roman" panose="02020603050405020304" pitchFamily="18" charset="0"/>
              </a:rPr>
              <a:t> for payment integration, the platform ensures an exceptional user experience. Additionally, the use of </a:t>
            </a:r>
            <a:r>
              <a:rPr lang="en-US" b="1" dirty="0">
                <a:latin typeface="Times New Roman" panose="02020603050405020304" pitchFamily="18" charset="0"/>
                <a:cs typeface="Times New Roman" panose="02020603050405020304" pitchFamily="18" charset="0"/>
              </a:rPr>
              <a:t>Docker</a:t>
            </a:r>
            <a:r>
              <a:rPr lang="en-US" dirty="0">
                <a:latin typeface="Times New Roman" panose="02020603050405020304" pitchFamily="18" charset="0"/>
                <a:cs typeface="Times New Roman" panose="02020603050405020304" pitchFamily="18" charset="0"/>
              </a:rPr>
              <a:t> for containerization and </a:t>
            </a:r>
            <a:r>
              <a:rPr lang="en-US" b="1" dirty="0" err="1">
                <a:latin typeface="Times New Roman" panose="02020603050405020304" pitchFamily="18" charset="0"/>
                <a:cs typeface="Times New Roman" panose="02020603050405020304" pitchFamily="18" charset="0"/>
              </a:rPr>
              <a:t>Vercel</a:t>
            </a:r>
            <a:r>
              <a:rPr lang="en-US" dirty="0">
                <a:latin typeface="Times New Roman" panose="02020603050405020304" pitchFamily="18" charset="0"/>
                <a:cs typeface="Times New Roman" panose="02020603050405020304" pitchFamily="18" charset="0"/>
              </a:rPr>
              <a:t> for deployment guarantees a robust and scalable solution, capable of handling a large volume of users. With these technologies, </a:t>
            </a:r>
            <a:r>
              <a:rPr lang="en-US" b="1" dirty="0">
                <a:latin typeface="Times New Roman" panose="02020603050405020304" pitchFamily="18" charset="0"/>
                <a:cs typeface="Times New Roman" panose="02020603050405020304" pitchFamily="18" charset="0"/>
              </a:rPr>
              <a:t>AI mock interview</a:t>
            </a:r>
            <a:r>
              <a:rPr lang="en-US" dirty="0">
                <a:latin typeface="Times New Roman" panose="02020603050405020304" pitchFamily="18" charset="0"/>
                <a:cs typeface="Times New Roman" panose="02020603050405020304" pitchFamily="18" charset="0"/>
              </a:rPr>
              <a:t> is not only </a:t>
            </a:r>
            <a:r>
              <a:rPr lang="en-US" b="1" dirty="0">
                <a:latin typeface="Times New Roman" panose="02020603050405020304" pitchFamily="18" charset="0"/>
                <a:cs typeface="Times New Roman" panose="02020603050405020304" pitchFamily="18" charset="0"/>
              </a:rPr>
              <a:t>production-ready</a:t>
            </a:r>
            <a:r>
              <a:rPr lang="en-US" dirty="0">
                <a:latin typeface="Times New Roman" panose="02020603050405020304" pitchFamily="18" charset="0"/>
                <a:cs typeface="Times New Roman" panose="02020603050405020304" pitchFamily="18" charset="0"/>
              </a:rPr>
              <a:t> but also highly extensible, making it suitable for a wide range of applications, from academic environments to enterprise-level use cases. The platform is designed to be flexible, allowing easy integration and future enhancements as it grows and evolves to meet the needs of various users.</a:t>
            </a:r>
          </a:p>
        </p:txBody>
      </p:sp>
    </p:spTree>
    <p:extLst>
      <p:ext uri="{BB962C8B-B14F-4D97-AF65-F5344CB8AC3E}">
        <p14:creationId xmlns:p14="http://schemas.microsoft.com/office/powerpoint/2010/main" val="20526640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Google Shape;95;p6"/>
          <p:cNvSpPr txBox="1">
            <a:spLocks/>
          </p:cNvSpPr>
          <p:nvPr/>
        </p:nvSpPr>
        <p:spPr>
          <a:xfrm>
            <a:off x="1581553" y="0"/>
            <a:ext cx="10050912" cy="1176421"/>
          </a:xfrm>
          <a:prstGeom prst="rect">
            <a:avLst/>
          </a:prstGeom>
          <a:noFill/>
          <a:ln>
            <a:noFill/>
          </a:ln>
        </p:spPr>
        <p:txBody>
          <a:bodyPr spcFirstLastPara="1" vert="horz" wrap="square" lIns="121900" tIns="121900" rIns="121900" bIns="121900"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70927">
              <a:buClr>
                <a:srgbClr val="1581AA"/>
              </a:buClr>
              <a:buSzPts val="2800"/>
            </a:pPr>
            <a:r>
              <a:rPr lang="en-US" sz="3733" b="1" dirty="0">
                <a:solidFill>
                  <a:srgbClr val="1581AA"/>
                </a:solidFill>
                <a:latin typeface="Calibri"/>
                <a:ea typeface="Calibri"/>
                <a:cs typeface="Calibri"/>
                <a:sym typeface="Calibri"/>
              </a:rPr>
              <a:t>References </a:t>
            </a:r>
            <a:endParaRPr lang="en-US" b="1" dirty="0"/>
          </a:p>
        </p:txBody>
      </p:sp>
      <p:sp>
        <p:nvSpPr>
          <p:cNvPr id="2" name="TextBox 1">
            <a:extLst>
              <a:ext uri="{FF2B5EF4-FFF2-40B4-BE49-F238E27FC236}">
                <a16:creationId xmlns:a16="http://schemas.microsoft.com/office/drawing/2014/main" id="{D3FCBA57-67D1-4331-D85F-306E8836626A}"/>
              </a:ext>
            </a:extLst>
          </p:cNvPr>
          <p:cNvSpPr txBox="1"/>
          <p:nvPr/>
        </p:nvSpPr>
        <p:spPr>
          <a:xfrm>
            <a:off x="2779060" y="1102659"/>
            <a:ext cx="8396165" cy="5355312"/>
          </a:xfrm>
          <a:prstGeom prst="rect">
            <a:avLst/>
          </a:prstGeom>
          <a:noFill/>
        </p:spPr>
        <p:txBody>
          <a:bodyPr wrap="square" rtlCol="0">
            <a:spAutoFit/>
          </a:bodyPr>
          <a:lstStyle/>
          <a:p>
            <a:pPr lvl="0" algn="just" eaLnBrk="0" fontAlgn="base" hangingPunct="0">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Patil, S. M., Shinde, K. V., Vakare, B. G., &amp; </a:t>
            </a:r>
            <a:r>
              <a:rPr lang="en-US" altLang="en-US" b="1" dirty="0" err="1">
                <a:latin typeface="Times New Roman" panose="02020603050405020304" pitchFamily="18" charset="0"/>
                <a:cs typeface="Times New Roman" panose="02020603050405020304" pitchFamily="18" charset="0"/>
              </a:rPr>
              <a:t>Dunbale</a:t>
            </a:r>
            <a:r>
              <a:rPr lang="en-US" altLang="en-US" b="1" dirty="0">
                <a:latin typeface="Times New Roman" panose="02020603050405020304" pitchFamily="18" charset="0"/>
                <a:cs typeface="Times New Roman" panose="02020603050405020304" pitchFamily="18" charset="0"/>
              </a:rPr>
              <a:t>, S. S.</a:t>
            </a:r>
            <a:r>
              <a:rPr lang="en-US" altLang="en-US" dirty="0">
                <a:latin typeface="Times New Roman" panose="02020603050405020304" pitchFamily="18" charset="0"/>
                <a:cs typeface="Times New Roman" panose="02020603050405020304" pitchFamily="18" charset="0"/>
              </a:rPr>
              <a:t> (2025, Jan.–Feb.). </a:t>
            </a:r>
          </a:p>
          <a:p>
            <a:pPr lvl="0" algn="just" eaLnBrk="0" fontAlgn="base" hangingPunct="0">
              <a:spcBef>
                <a:spcPct val="0"/>
              </a:spcBef>
              <a:spcAft>
                <a:spcPct val="0"/>
              </a:spcAft>
            </a:pPr>
            <a:r>
              <a:rPr lang="en-US" altLang="en-US" i="1" dirty="0">
                <a:latin typeface="Times New Roman" panose="02020603050405020304" pitchFamily="18" charset="0"/>
                <a:cs typeface="Times New Roman" panose="02020603050405020304" pitchFamily="18" charset="0"/>
              </a:rPr>
              <a:t>AI Powered Mock Interview Platform</a:t>
            </a:r>
            <a:r>
              <a:rPr lang="en-US" altLang="en-US" dirty="0">
                <a:latin typeface="Times New Roman" panose="02020603050405020304" pitchFamily="18" charset="0"/>
                <a:cs typeface="Times New Roman" panose="02020603050405020304" pitchFamily="18" charset="0"/>
              </a:rPr>
              <a:t>. </a:t>
            </a:r>
            <a:r>
              <a:rPr lang="en-US" altLang="en-US" i="1" dirty="0">
                <a:latin typeface="Times New Roman" panose="02020603050405020304" pitchFamily="18" charset="0"/>
                <a:cs typeface="Times New Roman" panose="02020603050405020304" pitchFamily="18" charset="0"/>
              </a:rPr>
              <a:t>International Journal of Innovative Research in </a:t>
            </a:r>
          </a:p>
          <a:p>
            <a:pPr lvl="0" algn="just" eaLnBrk="0" fontAlgn="base" hangingPunct="0">
              <a:spcBef>
                <a:spcPct val="0"/>
              </a:spcBef>
              <a:spcAft>
                <a:spcPct val="0"/>
              </a:spcAft>
            </a:pPr>
            <a:r>
              <a:rPr lang="en-US" altLang="en-US" i="1" dirty="0">
                <a:latin typeface="Times New Roman" panose="02020603050405020304" pitchFamily="18" charset="0"/>
                <a:cs typeface="Times New Roman" panose="02020603050405020304" pitchFamily="18" charset="0"/>
              </a:rPr>
              <a:t>Modern Education and Science (IJIRMPS)</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Vol. 13, No. 1</a:t>
            </a:r>
            <a:r>
              <a:rPr lang="en-US" altLang="en-US" dirty="0">
                <a:latin typeface="Times New Roman" panose="02020603050405020304" pitchFamily="18" charset="0"/>
                <a:cs typeface="Times New Roman" panose="02020603050405020304" pitchFamily="18" charset="0"/>
              </a:rPr>
              <a:t>. </a:t>
            </a:r>
          </a:p>
          <a:p>
            <a:pPr lvl="0" algn="just"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Available online: </a:t>
            </a:r>
            <a:r>
              <a:rPr lang="en-US" altLang="en-US" dirty="0">
                <a:latin typeface="Times New Roman" panose="02020603050405020304" pitchFamily="18" charset="0"/>
                <a:cs typeface="Times New Roman" panose="02020603050405020304" pitchFamily="18" charset="0"/>
                <a:hlinkClick r:id="rId3"/>
              </a:rPr>
              <a:t>https://www.ijirmps.org/research-paper.php?id=231993</a:t>
            </a:r>
            <a:r>
              <a:rPr lang="en-US"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hlinkClick r:id="rId3"/>
              </a:rPr>
              <a:t>ijirmps.org</a:t>
            </a:r>
            <a:endParaRPr lang="en-US" altLang="en-US"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AI Based Mock Interview System.</a:t>
            </a:r>
            <a:r>
              <a:rPr lang="en-US" altLang="en-US" dirty="0">
                <a:latin typeface="Times New Roman" panose="02020603050405020304" pitchFamily="18" charset="0"/>
                <a:cs typeface="Times New Roman" panose="02020603050405020304" pitchFamily="18" charset="0"/>
              </a:rPr>
              <a:t> (2025, May 9).</a:t>
            </a:r>
          </a:p>
          <a:p>
            <a:pPr lvl="0" algn="just" eaLnBrk="0" fontAlgn="base" hangingPunct="0">
              <a:spcBef>
                <a:spcPct val="0"/>
              </a:spcBef>
              <a:spcAft>
                <a:spcPct val="0"/>
              </a:spcAft>
            </a:pPr>
            <a:r>
              <a:rPr lang="en-US" altLang="en-US" i="1" dirty="0">
                <a:latin typeface="Times New Roman" panose="02020603050405020304" pitchFamily="18" charset="0"/>
                <a:cs typeface="Times New Roman" panose="02020603050405020304" pitchFamily="18" charset="0"/>
              </a:rPr>
              <a:t>International Journal of Research Publication and Reviews (IJRPR)</a:t>
            </a:r>
            <a:r>
              <a:rPr lang="en-US" altLang="en-US" dirty="0">
                <a:latin typeface="Times New Roman" panose="02020603050405020304" pitchFamily="18" charset="0"/>
                <a:cs typeface="Times New Roman" panose="02020603050405020304" pitchFamily="18" charset="0"/>
              </a:rPr>
              <a:t>. </a:t>
            </a:r>
          </a:p>
          <a:p>
            <a:pPr lvl="0" algn="just"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PDF available: </a:t>
            </a:r>
            <a:r>
              <a:rPr lang="en-US" altLang="en-US" dirty="0">
                <a:latin typeface="Times New Roman" panose="02020603050405020304" pitchFamily="18" charset="0"/>
                <a:cs typeface="Times New Roman" panose="02020603050405020304" pitchFamily="18" charset="0"/>
                <a:hlinkClick r:id="rId4"/>
              </a:rPr>
              <a:t>https://ijrpr.com/uploads/V6ISSUE5/IJRPR45237.pdf</a:t>
            </a:r>
            <a:r>
              <a:rPr lang="en-US"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hlinkClick r:id="rId4"/>
              </a:rPr>
              <a:t>IJRPR</a:t>
            </a:r>
            <a:endParaRPr lang="en-US" altLang="en-US"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FontTx/>
              <a:buChar char="•"/>
            </a:pPr>
            <a:endParaRPr lang="en-US" altLang="en-US"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Thangaraj, D., Selvan, T., Rahul, P. A., &amp; Aswin, S.</a:t>
            </a:r>
            <a:r>
              <a:rPr lang="en-US" altLang="en-US" dirty="0">
                <a:latin typeface="Times New Roman" panose="02020603050405020304" pitchFamily="18" charset="0"/>
                <a:cs typeface="Times New Roman" panose="02020603050405020304" pitchFamily="18" charset="0"/>
              </a:rPr>
              <a:t> (2025, Apr.).</a:t>
            </a:r>
          </a:p>
          <a:p>
            <a:pPr lvl="0" algn="just"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 </a:t>
            </a:r>
            <a:r>
              <a:rPr lang="en-US" altLang="en-US" i="1" dirty="0">
                <a:latin typeface="Times New Roman" panose="02020603050405020304" pitchFamily="18" charset="0"/>
                <a:cs typeface="Times New Roman" panose="02020603050405020304" pitchFamily="18" charset="0"/>
              </a:rPr>
              <a:t>AI-Based Mock Interview Platform</a:t>
            </a:r>
            <a:r>
              <a:rPr lang="en-US" altLang="en-US" dirty="0">
                <a:latin typeface="Times New Roman" panose="02020603050405020304" pitchFamily="18" charset="0"/>
                <a:cs typeface="Times New Roman" panose="02020603050405020304" pitchFamily="18" charset="0"/>
              </a:rPr>
              <a:t>. </a:t>
            </a:r>
            <a:r>
              <a:rPr lang="en-US" altLang="en-US" i="1" dirty="0">
                <a:latin typeface="Times New Roman" panose="02020603050405020304" pitchFamily="18" charset="0"/>
                <a:cs typeface="Times New Roman" panose="02020603050405020304" pitchFamily="18" charset="0"/>
              </a:rPr>
              <a:t>International Research Journal of </a:t>
            </a:r>
          </a:p>
          <a:p>
            <a:pPr lvl="0" algn="just" eaLnBrk="0" fontAlgn="base" hangingPunct="0">
              <a:spcBef>
                <a:spcPct val="0"/>
              </a:spcBef>
              <a:spcAft>
                <a:spcPct val="0"/>
              </a:spcAft>
            </a:pPr>
            <a:r>
              <a:rPr lang="en-US" altLang="en-US" i="1" dirty="0">
                <a:latin typeface="Times New Roman" panose="02020603050405020304" pitchFamily="18" charset="0"/>
                <a:cs typeface="Times New Roman" panose="02020603050405020304" pitchFamily="18" charset="0"/>
              </a:rPr>
              <a:t>Modernization in Engineering, Technology and Science (IRJMETS)</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Vol. 07, Issue 04</a:t>
            </a:r>
            <a:r>
              <a:rPr lang="en-US" altLang="en-US" dirty="0">
                <a:latin typeface="Times New Roman" panose="02020603050405020304" pitchFamily="18" charset="0"/>
                <a:cs typeface="Times New Roman" panose="02020603050405020304" pitchFamily="18" charset="0"/>
              </a:rPr>
              <a:t>.</a:t>
            </a:r>
          </a:p>
          <a:p>
            <a:pPr lvl="0" algn="just"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 DOI: https://www.doi.org/10.56726/IRJMETS72440 </a:t>
            </a:r>
            <a:r>
              <a:rPr lang="en-US" altLang="en-US" dirty="0">
                <a:latin typeface="Times New Roman" panose="02020603050405020304" pitchFamily="18" charset="0"/>
                <a:cs typeface="Times New Roman" panose="02020603050405020304" pitchFamily="18" charset="0"/>
                <a:hlinkClick r:id="rId5"/>
              </a:rPr>
              <a:t>IRJMETS</a:t>
            </a:r>
            <a:endParaRPr lang="en-US" altLang="en-US"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Chavan, N., </a:t>
            </a:r>
            <a:r>
              <a:rPr lang="en-US" altLang="en-US" b="1" dirty="0" err="1">
                <a:latin typeface="Times New Roman" panose="02020603050405020304" pitchFamily="18" charset="0"/>
                <a:cs typeface="Times New Roman" panose="02020603050405020304" pitchFamily="18" charset="0"/>
              </a:rPr>
              <a:t>Shivpuje</a:t>
            </a:r>
            <a:r>
              <a:rPr lang="en-US" altLang="en-US" b="1" dirty="0">
                <a:latin typeface="Times New Roman" panose="02020603050405020304" pitchFamily="18" charset="0"/>
                <a:cs typeface="Times New Roman" panose="02020603050405020304" pitchFamily="18" charset="0"/>
              </a:rPr>
              <a:t>, P., Mali, S., &amp; Sayyad, A.</a:t>
            </a:r>
            <a:r>
              <a:rPr lang="en-US" altLang="en-US" dirty="0">
                <a:latin typeface="Times New Roman" panose="02020603050405020304" pitchFamily="18" charset="0"/>
                <a:cs typeface="Times New Roman" panose="02020603050405020304" pitchFamily="18" charset="0"/>
              </a:rPr>
              <a:t> (2024, Oct.).</a:t>
            </a:r>
          </a:p>
          <a:p>
            <a:pPr lvl="0" algn="just"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 </a:t>
            </a:r>
            <a:r>
              <a:rPr lang="en-US" altLang="en-US" i="1" dirty="0">
                <a:latin typeface="Times New Roman" panose="02020603050405020304" pitchFamily="18" charset="0"/>
                <a:cs typeface="Times New Roman" panose="02020603050405020304" pitchFamily="18" charset="0"/>
              </a:rPr>
              <a:t>AI-Based Mock Interview System</a:t>
            </a:r>
            <a:r>
              <a:rPr lang="en-US" altLang="en-US" dirty="0">
                <a:latin typeface="Times New Roman" panose="02020603050405020304" pitchFamily="18" charset="0"/>
                <a:cs typeface="Times New Roman" panose="02020603050405020304" pitchFamily="18" charset="0"/>
              </a:rPr>
              <a:t>. </a:t>
            </a:r>
            <a:r>
              <a:rPr lang="en-US" altLang="en-US" i="1" dirty="0">
                <a:latin typeface="Times New Roman" panose="02020603050405020304" pitchFamily="18" charset="0"/>
                <a:cs typeface="Times New Roman" panose="02020603050405020304" pitchFamily="18" charset="0"/>
              </a:rPr>
              <a:t>International Research Journal of </a:t>
            </a:r>
          </a:p>
          <a:p>
            <a:pPr lvl="0" algn="just" eaLnBrk="0" fontAlgn="base" hangingPunct="0">
              <a:spcBef>
                <a:spcPct val="0"/>
              </a:spcBef>
              <a:spcAft>
                <a:spcPct val="0"/>
              </a:spcAft>
            </a:pPr>
            <a:r>
              <a:rPr lang="en-US" altLang="en-US" i="1" dirty="0">
                <a:latin typeface="Times New Roman" panose="02020603050405020304" pitchFamily="18" charset="0"/>
                <a:cs typeface="Times New Roman" panose="02020603050405020304" pitchFamily="18" charset="0"/>
              </a:rPr>
              <a:t>Modernization in Engineering Technology and Science (IRJMETS)</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Vol. 06, Issue 10</a:t>
            </a:r>
            <a:r>
              <a:rPr lang="en-US" altLang="en-US" dirty="0">
                <a:latin typeface="Times New Roman" panose="02020603050405020304" pitchFamily="18" charset="0"/>
                <a:cs typeface="Times New Roman" panose="02020603050405020304" pitchFamily="18" charset="0"/>
              </a:rPr>
              <a:t>. </a:t>
            </a:r>
          </a:p>
          <a:p>
            <a:pPr lvl="0" algn="just"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DOI: https://www.doi.org/10.56726/IRJMETS63116</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33360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pic>
        <p:nvPicPr>
          <p:cNvPr id="3" name="Google Shape;152;p12" descr="Icon&#10;&#10;Description automatically generated"/>
          <p:cNvPicPr preferRelativeResize="0"/>
          <p:nvPr/>
        </p:nvPicPr>
        <p:blipFill rotWithShape="1">
          <a:blip r:embed="rId3">
            <a:alphaModFix/>
          </a:blip>
          <a:srcRect/>
          <a:stretch/>
        </p:blipFill>
        <p:spPr>
          <a:xfrm>
            <a:off x="3212927" y="973899"/>
            <a:ext cx="4816256" cy="4283901"/>
          </a:xfrm>
          <a:prstGeom prst="rect">
            <a:avLst/>
          </a:prstGeom>
          <a:noFill/>
          <a:ln>
            <a:noFill/>
          </a:ln>
        </p:spPr>
      </p:pic>
      <p:sp>
        <p:nvSpPr>
          <p:cNvPr id="5" name="Google Shape;153;p12"/>
          <p:cNvSpPr txBox="1"/>
          <p:nvPr/>
        </p:nvSpPr>
        <p:spPr>
          <a:xfrm>
            <a:off x="752083" y="6320947"/>
            <a:ext cx="766176" cy="533489"/>
          </a:xfrm>
          <a:prstGeom prst="rect">
            <a:avLst/>
          </a:prstGeom>
          <a:noFill/>
          <a:ln>
            <a:noFill/>
          </a:ln>
        </p:spPr>
        <p:txBody>
          <a:bodyPr spcFirstLastPara="1" wrap="square" lIns="121900" tIns="60933" rIns="121900" bIns="60933" anchor="t" anchorCtr="0">
            <a:spAutoFit/>
          </a:bodyPr>
          <a:lstStyle/>
          <a:p>
            <a:r>
              <a:rPr lang="en-US" sz="2667" b="1" i="1">
                <a:solidFill>
                  <a:schemeClr val="lt1"/>
                </a:solidFill>
                <a:latin typeface="Century Gothic"/>
                <a:ea typeface="Century Gothic"/>
                <a:cs typeface="Century Gothic"/>
                <a:sym typeface="Century Gothic"/>
              </a:rPr>
              <a:t>12</a:t>
            </a:r>
            <a:endParaRPr sz="2667" i="1">
              <a:solidFill>
                <a:schemeClr val="lt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32972731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Google Shape;153;p12"/>
          <p:cNvSpPr txBox="1"/>
          <p:nvPr/>
        </p:nvSpPr>
        <p:spPr>
          <a:xfrm>
            <a:off x="752083" y="6320947"/>
            <a:ext cx="766176" cy="533489"/>
          </a:xfrm>
          <a:prstGeom prst="rect">
            <a:avLst/>
          </a:prstGeom>
          <a:noFill/>
          <a:ln>
            <a:noFill/>
          </a:ln>
        </p:spPr>
        <p:txBody>
          <a:bodyPr spcFirstLastPara="1" wrap="square" lIns="121900" tIns="60933" rIns="121900" bIns="60933" anchor="t" anchorCtr="0">
            <a:spAutoFit/>
          </a:bodyPr>
          <a:lstStyle/>
          <a:p>
            <a:r>
              <a:rPr lang="en-US" sz="2667" b="1" i="1">
                <a:solidFill>
                  <a:schemeClr val="lt1"/>
                </a:solidFill>
                <a:latin typeface="Century Gothic"/>
                <a:ea typeface="Century Gothic"/>
                <a:cs typeface="Century Gothic"/>
                <a:sym typeface="Century Gothic"/>
              </a:rPr>
              <a:t>12</a:t>
            </a:r>
            <a:endParaRPr sz="2667" i="1">
              <a:solidFill>
                <a:schemeClr val="lt1"/>
              </a:solidFill>
              <a:latin typeface="Century Gothic"/>
              <a:ea typeface="Century Gothic"/>
              <a:cs typeface="Century Gothic"/>
              <a:sym typeface="Century Gothic"/>
            </a:endParaRPr>
          </a:p>
        </p:txBody>
      </p:sp>
      <p:pic>
        <p:nvPicPr>
          <p:cNvPr id="4" name="Google Shape;160;p13" descr="A picture containing text, stationary, writing implement, pen&#10;&#10;Description automatically generated"/>
          <p:cNvPicPr preferRelativeResize="0"/>
          <p:nvPr/>
        </p:nvPicPr>
        <p:blipFill rotWithShape="1">
          <a:blip r:embed="rId3">
            <a:alphaModFix/>
          </a:blip>
          <a:srcRect/>
          <a:stretch/>
        </p:blipFill>
        <p:spPr>
          <a:xfrm>
            <a:off x="1508605" y="1507467"/>
            <a:ext cx="9356940" cy="4329495"/>
          </a:xfrm>
          <a:prstGeom prst="rect">
            <a:avLst/>
          </a:prstGeom>
          <a:noFill/>
          <a:ln>
            <a:noFill/>
          </a:ln>
        </p:spPr>
      </p:pic>
    </p:spTree>
    <p:extLst>
      <p:ext uri="{BB962C8B-B14F-4D97-AF65-F5344CB8AC3E}">
        <p14:creationId xmlns:p14="http://schemas.microsoft.com/office/powerpoint/2010/main" val="37940836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1451</Words>
  <Application>Microsoft Office PowerPoint</Application>
  <PresentationFormat>Widescreen</PresentationFormat>
  <Paragraphs>142</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Century Gothic</vt:lpstr>
      <vt:lpstr>Times New Roman</vt:lpstr>
      <vt:lpstr>Office Theme</vt:lpstr>
      <vt:lpstr>TITLE:</vt:lpstr>
      <vt:lpstr>Agenda</vt:lpstr>
      <vt:lpstr>Abstract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Microsoft account</dc:creator>
  <cp:lastModifiedBy>Anmol Shubham</cp:lastModifiedBy>
  <cp:revision>4</cp:revision>
  <dcterms:created xsi:type="dcterms:W3CDTF">2025-10-17T10:26:02Z</dcterms:created>
  <dcterms:modified xsi:type="dcterms:W3CDTF">2025-11-12T16:50:33Z</dcterms:modified>
</cp:coreProperties>
</file>